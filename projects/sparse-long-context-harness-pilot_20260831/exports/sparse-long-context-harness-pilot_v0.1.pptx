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这不是一次性生成综述，而是一次可审计调研 Harness 的首期汇报。全套内容分为调研结果和工程复盘，两者约为三比二。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先给三条判断。只有第一条由同一论文、同一设置下的受控比较支持；工程收益与真实任务能力目前都只能标记为证据不足。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这里先拆概念。训练期稀疏、动态 prefill、decode 的 KV/token 稀疏和 kernel-aware 执行分别对应不同瓶颈，不能放在同一个排行榜里。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首期真正完成验证的是 SCCA 分支。LongLoRA 的 S2 基线仍是 draft；动态 prefill、decode 和 kernel 三条线尚未进入独立验证闭环。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后续跨论文比较不能只写局部或全局。需要记录张量位移、schedule、head 分配、pattern mixing，以及同条件下是否出现退化 variant。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这是当前最硬的一页证据。同为 LLaMA2-7B、PI 加 LoRA、RedPajama 子集和 8K 上下文，LongMixed 的 PG19 PPL 最低，而 SCCA flow 比 S2 略差。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这支持一个非共识线索：更大的全局感受野并不自动带来更好的质量。但这仍是论文内证据，不能扩展成跨模型共识，也不能声称工程加速。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 verified 的指标只有 PG19 与 Proof-pile perplexity。真实长文任务和工程效率是另外两条证据轴，不能用 PPL 替代。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理论线性复杂度到真实加速之间隔着访存、索引、kernel launch 和硬件利用率。prefill 与 decode 的瓶颈也不同，因此必须分别测量。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开源证据不能只保存仓库链接。至少需要官方归属、许可、固定 commit、入口、真实稀疏 kernel 路径和硬件固定复现命令。当前这一链条还没进入 verified Wiki。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系统把三类状态分开：Markdown 和 YAML 保存科学真源，D 盘 SQLite 保存可恢复运行状态，Outer Loop 根据可计算真源选择下一动作。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Skill 是动作协议，不是单篇论文。确定性脚本负责 ID、schema、去重、backlink、coverage、Done 和预算；LLM 只处理真正需要语义判断的部分。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LoopEngineer 不是失败后再问一次模型，而是把问题分类，修改脚本、Skill、schema 或检索词，在隔离环境重跑，并比较进展和复发率。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这次小规模 Canary 用 386 秒打通检索、筛选、摄取和验证。它处理一篇论文，创建四十个实体，验证四十比四十，并保持正式 Wiki 不变。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Error Book 目前只到记录层：README、JSONL 和三个 recurrence key 已有，但聚合、复发检测、规则建议、测试绑定和 Skill 自动更新都没有完成。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下一轮研究侧补动态 prefill、KV/token、kernel 和反例基线；工程侧补 Error Book 聚合和 evidence-grounded synthesis。两条轨道汇合后才进入跨家族正式综述。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parse-long-context-harness-pilo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2"/>
          <p:cNvGrpSpPr/>
          <p:nvPr/>
        </p:nvGrpSpPr>
        <p:grpSpPr>
          <a:xfrm>
            <a:off x="7429500" y="-266700"/>
            <a:ext cx="4895850" cy="6618923"/>
            <a:chOff x="7429500" y="-266700"/>
            <a:chExt cx="4895850" cy="6618923"/>
          </a:xfrm>
        </p:grpSpPr>
        <p:sp>
          <p:nvSpPr>
            <p:cNvPr id="2" name="Ellipse 2"/>
            <p:cNvSpPr/>
            <p:nvPr/>
          </p:nvSpPr>
          <p:spPr>
            <a:xfrm>
              <a:off x="7639050" y="-266700"/>
              <a:ext cx="4686300" cy="4686300"/>
            </a:xfrm>
            <a:prstGeom prst="ellipse">
              <a:avLst/>
            </a:prstGeom>
            <a:solidFill>
              <a:srgbClr val="F2A079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715250" y="361950"/>
              <a:ext cx="3962400" cy="396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705850" y="1352550"/>
              <a:ext cx="2324100" cy="232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115300" y="4095750"/>
              <a:ext cx="4076700" cy="1162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382250" y="4191000"/>
              <a:ext cx="1600200" cy="1600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429500" y="5467350"/>
              <a:ext cx="47625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501062" y="6524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684895" y="6457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868728" y="6391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072562" y="6524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256395" y="6457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440228" y="6391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644062" y="6524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827895" y="6457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011728" y="6391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494395" y="8362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78228" y="8296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882062" y="8429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065895" y="8362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249728" y="8296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453562" y="8429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637395" y="8362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9821228" y="8296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025062" y="8429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487728" y="10201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691562" y="10334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8875395" y="10267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059228" y="10201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9263062" y="10334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446895" y="10267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9630728" y="10201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9834562" y="10334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0018395" y="10267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501062" y="12239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8684895" y="12172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868728" y="12106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9072562" y="12239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9256395" y="12172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9440228" y="12106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644062" y="12239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9827895" y="12172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0011728" y="12106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494395" y="14077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678228" y="14011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8882062" y="14144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9065895" y="14077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9249728" y="14011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9453562" y="14144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9637395" y="14077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9821228" y="14011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0025062" y="14144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8487728" y="15916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8691562" y="16049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8875395" y="15982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9059228" y="15916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9263062" y="16049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9446895" y="15982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9630728" y="1591628"/>
              <a:ext cx="55245" cy="5524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9834562" y="1604962"/>
              <a:ext cx="28575" cy="28575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10018395" y="1598295"/>
              <a:ext cx="41910" cy="4191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9567862" y="5795962"/>
              <a:ext cx="28575" cy="2857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9732645" y="5789295"/>
              <a:ext cx="41910" cy="4191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9897428" y="5782628"/>
              <a:ext cx="55245" cy="5524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10082212" y="5795962"/>
              <a:ext cx="28575" cy="2857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10246995" y="5789295"/>
              <a:ext cx="41910" cy="4191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10411778" y="5782628"/>
              <a:ext cx="55245" cy="5524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10596562" y="5795962"/>
              <a:ext cx="28575" cy="2857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10761345" y="5789295"/>
              <a:ext cx="41910" cy="4191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10926128" y="5782628"/>
              <a:ext cx="55245" cy="5524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1110912" y="5795962"/>
              <a:ext cx="28575" cy="2857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9561195" y="5960745"/>
              <a:ext cx="41910" cy="4191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9725978" y="5954078"/>
              <a:ext cx="55245" cy="5524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9910762" y="5967412"/>
              <a:ext cx="28575" cy="2857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10075545" y="5960745"/>
              <a:ext cx="41910" cy="4191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10240328" y="5954078"/>
              <a:ext cx="55245" cy="5524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10425112" y="5967412"/>
              <a:ext cx="28575" cy="2857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10589895" y="5960745"/>
              <a:ext cx="41910" cy="4191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10754678" y="5954078"/>
              <a:ext cx="55245" cy="5524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10939462" y="5967412"/>
              <a:ext cx="28575" cy="2857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11104245" y="5960745"/>
              <a:ext cx="41910" cy="4191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9554528" y="6125528"/>
              <a:ext cx="55245" cy="5524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9739312" y="6138862"/>
              <a:ext cx="28575" cy="2857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9904095" y="6132195"/>
              <a:ext cx="41910" cy="4191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10068878" y="6125528"/>
              <a:ext cx="55245" cy="5524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10253662" y="6138862"/>
              <a:ext cx="28575" cy="2857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10418445" y="6132195"/>
              <a:ext cx="41910" cy="4191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10583228" y="6125528"/>
              <a:ext cx="55245" cy="5524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10768012" y="6138862"/>
              <a:ext cx="28575" cy="2857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10932795" y="6132195"/>
              <a:ext cx="41910" cy="4191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11097578" y="6125528"/>
              <a:ext cx="55245" cy="5524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9567862" y="6310312"/>
              <a:ext cx="28575" cy="2857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9732645" y="6303645"/>
              <a:ext cx="41910" cy="4191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9897428" y="6296978"/>
              <a:ext cx="55245" cy="5524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10082212" y="6310312"/>
              <a:ext cx="28575" cy="2857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10246995" y="6303645"/>
              <a:ext cx="41910" cy="4191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10411778" y="6296978"/>
              <a:ext cx="55245" cy="5524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10596562" y="6310312"/>
              <a:ext cx="28575" cy="2857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10761345" y="6303645"/>
              <a:ext cx="41910" cy="4191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10926128" y="6296978"/>
              <a:ext cx="55245" cy="5524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11110912" y="6310312"/>
              <a:ext cx="28575" cy="28575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</p:grpSp>
      <p:grpSp>
        <p:nvGrpSpPr>
          <p:cNvPr id="107" name="Group 107"/>
          <p:cNvGrpSpPr/>
          <p:nvPr/>
        </p:nvGrpSpPr>
        <p:grpSpPr>
          <a:xfrm>
            <a:off x="669798" y="1359218"/>
            <a:ext cx="4075130" cy="2155317"/>
            <a:chOff x="669798" y="1359218"/>
            <a:chExt cx="4075130" cy="2155317"/>
          </a:xfrm>
        </p:grpSpPr>
        <p:sp>
          <p:nvSpPr>
            <p:cNvPr id="103" name="TextBox 103"/>
            <p:cNvSpPr txBox="1"/>
            <p:nvPr/>
          </p:nvSpPr>
          <p:spPr>
            <a:xfrm>
              <a:off x="678942" y="1359218"/>
              <a:ext cx="40659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RESEARCH HARNESS · PILOT 01</a:t>
              </a:r>
              <a:endParaRPr lang="zh-CN" sz="1350" b="1" spc="15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69798" y="1869758"/>
              <a:ext cx="27203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稀疏化模型在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69798" y="2384108"/>
              <a:ext cx="31683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长上下文领域的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69798" y="2898458"/>
              <a:ext cx="22722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性能与瓶颈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676656" y="3943350"/>
            <a:ext cx="4962144" cy="576834"/>
            <a:chOff x="676656" y="3943350"/>
            <a:chExt cx="4962144" cy="576834"/>
          </a:xfrm>
        </p:grpSpPr>
        <p:sp>
          <p:nvSpPr>
            <p:cNvPr id="108" name="Rectangle 108"/>
            <p:cNvSpPr/>
            <p:nvPr/>
          </p:nvSpPr>
          <p:spPr>
            <a:xfrm>
              <a:off x="685800" y="3943350"/>
              <a:ext cx="49530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76656" y="4168140"/>
              <a:ext cx="45801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结构化调研 · 非共识证据 · LoopEngineer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685800" y="4933950"/>
            <a:ext cx="4114800" cy="324231"/>
            <a:chOff x="685800" y="4933950"/>
            <a:chExt cx="4114800" cy="324231"/>
          </a:xfrm>
        </p:grpSpPr>
        <p:sp>
          <p:nvSpPr>
            <p:cNvPr id="111" name="Rectangle 111"/>
            <p:cNvSpPr/>
            <p:nvPr/>
          </p:nvSpPr>
          <p:spPr>
            <a:xfrm>
              <a:off x="685800" y="4933950"/>
              <a:ext cx="125730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1146810" y="50234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性能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2114550" y="4933950"/>
              <a:ext cx="125730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2575560" y="50234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瓶颈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3543300" y="4933950"/>
              <a:ext cx="1257300" cy="323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4004310" y="50234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证据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604647" y="6400800"/>
            <a:ext cx="10982706" cy="342614"/>
            <a:chOff x="604647" y="6400800"/>
            <a:chExt cx="10982706" cy="342614"/>
          </a:xfrm>
        </p:grpSpPr>
        <p:sp>
          <p:nvSpPr>
            <p:cNvPr id="118" name="Line 118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604647" y="6552724"/>
              <a:ext cx="20019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Auto Paper Research · 2026.08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1087124" y="6552724"/>
              <a:ext cx="50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01 / 16</a:t>
              </a:r>
              <a:endParaRPr lang="zh-CN" sz="98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9"/>
          <p:cNvGrpSpPr/>
          <p:nvPr/>
        </p:nvGrpSpPr>
        <p:grpSpPr>
          <a:xfrm>
            <a:off x="10401300" y="0"/>
            <a:ext cx="1790700" cy="6858000"/>
            <a:chOff x="10401300" y="0"/>
            <a:chExt cx="1790700" cy="6858000"/>
          </a:xfrm>
        </p:grpSpPr>
        <p:sp>
          <p:nvSpPr>
            <p:cNvPr id="2" name="Rectangle 2"/>
            <p:cNvSpPr/>
            <p:nvPr/>
          </p:nvSpPr>
          <p:spPr>
            <a:xfrm>
              <a:off x="11068050" y="0"/>
              <a:ext cx="1123950" cy="6858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401300" y="419100"/>
              <a:ext cx="1562100" cy="156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415588" y="55578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570845" y="55511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726102" y="55445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901362" y="55578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056620" y="55511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211878" y="55445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387138" y="55578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542395" y="55511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1697652" y="55445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08920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56417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739438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89469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049952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22521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380470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153572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1710988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402252" y="586835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577512" y="588168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732770" y="587502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888028" y="586835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063288" y="588168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1218545" y="587502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1373802" y="586835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1549062" y="588168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704320" y="587502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415588" y="60436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570845" y="60369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726102" y="60302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0901362" y="60436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056620" y="60369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1211878" y="60302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1387138" y="60436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1542395" y="60369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697652" y="60302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408920" y="61988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0564178" y="61922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0739438" y="62055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0894695" y="61988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1049952" y="61922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1225212" y="62055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1380470" y="61988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1535728" y="61922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1710988" y="62055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596646" y="428625"/>
            <a:ext cx="7480554" cy="1375982"/>
            <a:chOff x="596646" y="428625"/>
            <a:chExt cx="7480554" cy="1375982"/>
          </a:xfrm>
        </p:grpSpPr>
        <p:sp>
          <p:nvSpPr>
            <p:cNvPr id="50" name="Rectangle 50"/>
            <p:cNvSpPr/>
            <p:nvPr/>
          </p:nvSpPr>
          <p:spPr>
            <a:xfrm>
              <a:off x="609600" y="428625"/>
              <a:ext cx="16954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71959" y="526256"/>
              <a:ext cx="9707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 · 初步判断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6646" y="886778"/>
              <a:ext cx="40910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初步调研得到 3 个判断，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6646" y="1305878"/>
              <a:ext cx="51791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但只有 1 个已有论文内受控证据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9600" y="1714500"/>
              <a:ext cx="74676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609600" y="2095500"/>
            <a:ext cx="10458450" cy="3371850"/>
            <a:chOff x="609600" y="2095500"/>
            <a:chExt cx="10458450" cy="3371850"/>
          </a:xfrm>
        </p:grpSpPr>
        <p:sp>
          <p:nvSpPr>
            <p:cNvPr id="56" name="Rectangle 56"/>
            <p:cNvSpPr/>
            <p:nvPr/>
          </p:nvSpPr>
          <p:spPr>
            <a:xfrm>
              <a:off x="609600" y="2095500"/>
              <a:ext cx="3333750" cy="33718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9600" y="2095500"/>
              <a:ext cx="114300" cy="3371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76300" y="2286000"/>
              <a:ext cx="1390650" cy="323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260493" y="2391728"/>
              <a:ext cx="6222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VERIFIED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67156" y="26822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具体拓扑影响质量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69442" y="3111818"/>
              <a:ext cx="2359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LongMixed：PG19 PPL 8.73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9442" y="3378518"/>
              <a:ext cx="24151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SCCA flow：9.47，反而更差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9442" y="3645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论文内受控比较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171950" y="2095500"/>
              <a:ext cx="3333750" cy="33718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4171950" y="2095500"/>
              <a:ext cx="114300" cy="3371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4438650" y="2286000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688994" y="2391728"/>
              <a:ext cx="928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INSUFFICIENT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429506" y="26822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工程加速仍缺证据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431792" y="3111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只有复杂度与硬件描述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431792" y="337851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缺 latency / throughput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431792" y="3645218"/>
              <a:ext cx="18401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缺 peak-memory 对照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734300" y="2095500"/>
              <a:ext cx="3333750" cy="33718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734300" y="2095500"/>
              <a:ext cx="114300" cy="3371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8001000" y="2286000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251344" y="2391728"/>
              <a:ext cx="928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INSUFFICIENT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991856" y="26822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真实任务外推不足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994142" y="3111818"/>
              <a:ext cx="18856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当前仅验证 perplexity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994142" y="3378518"/>
              <a:ext cx="2070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不能代表 QA / retrieval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994142" y="36452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不能代表多跳推理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04647" y="6400800"/>
            <a:ext cx="10982706" cy="342614"/>
            <a:chOff x="604647" y="6400800"/>
            <a:chExt cx="10982706" cy="342614"/>
          </a:xfrm>
        </p:grpSpPr>
        <p:sp>
          <p:nvSpPr>
            <p:cNvPr id="81" name="Line 81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04647" y="65527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技术谱系与证据边界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087124" y="6552724"/>
              <a:ext cx="50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02 / 16</a:t>
              </a:r>
              <a:endParaRPr lang="zh-CN" sz="98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4"/>
          <p:cNvGrpSpPr/>
          <p:nvPr/>
        </p:nvGrpSpPr>
        <p:grpSpPr>
          <a:xfrm>
            <a:off x="10259378" y="-190500"/>
            <a:ext cx="2161222" cy="6637973"/>
            <a:chOff x="10259378" y="-190500"/>
            <a:chExt cx="2161222" cy="6637973"/>
          </a:xfrm>
        </p:grpSpPr>
        <p:sp>
          <p:nvSpPr>
            <p:cNvPr id="2" name="Ellipse 2"/>
            <p:cNvSpPr/>
            <p:nvPr/>
          </p:nvSpPr>
          <p:spPr>
            <a:xfrm>
              <a:off x="10287000" y="-190500"/>
              <a:ext cx="2133600" cy="2133600"/>
            </a:xfrm>
            <a:prstGeom prst="ellipse">
              <a:avLst/>
            </a:prstGeom>
            <a:solidFill>
              <a:schemeClr val="accent2">
                <a:alpha val="92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801350" y="323850"/>
              <a:ext cx="1104900" cy="110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27271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43749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0227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78706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95184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11662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30141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46619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266045" y="58845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30828" y="58778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615612" y="58912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780395" y="58845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945178" y="58778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129962" y="58912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294745" y="58845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459528" y="58778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259378" y="60493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444162" y="60626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08945" y="60559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773728" y="60493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958512" y="60626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123295" y="60559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288078" y="60493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1472862" y="60626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272712" y="62341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437495" y="62274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0602278" y="62207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787062" y="62341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951845" y="62274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1116628" y="62207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1301412" y="62341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466195" y="62274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266045" y="63988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430828" y="63922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615612" y="64055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780395" y="63988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945178" y="63922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1129962" y="64055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1294745" y="63988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459528" y="63922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596646" y="428625"/>
            <a:ext cx="7480554" cy="1375982"/>
            <a:chOff x="596646" y="428625"/>
            <a:chExt cx="7480554" cy="1375982"/>
          </a:xfrm>
        </p:grpSpPr>
        <p:sp>
          <p:nvSpPr>
            <p:cNvPr id="45" name="Rectangle 45"/>
            <p:cNvSpPr/>
            <p:nvPr/>
          </p:nvSpPr>
          <p:spPr>
            <a:xfrm>
              <a:off x="609600" y="428625"/>
              <a:ext cx="16954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71959" y="526256"/>
              <a:ext cx="9707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· 技术谱系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6646" y="886778"/>
              <a:ext cx="47411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稀疏长上下文不是一类问题，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6646" y="1305878"/>
              <a:ext cx="37282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而是 4 条不同技术主线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9600" y="1714500"/>
              <a:ext cx="74676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609600" y="2076450"/>
            <a:ext cx="10287000" cy="3657600"/>
            <a:chOff x="609600" y="2076450"/>
            <a:chExt cx="10287000" cy="3657600"/>
          </a:xfrm>
        </p:grpSpPr>
        <p:sp>
          <p:nvSpPr>
            <p:cNvPr id="51" name="Rectangle 51"/>
            <p:cNvSpPr/>
            <p:nvPr/>
          </p:nvSpPr>
          <p:spPr>
            <a:xfrm>
              <a:off x="609600" y="2076450"/>
              <a:ext cx="102870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9600" y="2076450"/>
              <a:ext cx="838200" cy="800100"/>
            </a:xfrm>
            <a:prstGeom prst="roundRect">
              <a:avLst>
                <a:gd name="adj" fmla="val 14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32447" y="2338388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01</a:t>
              </a:r>
              <a:endParaRPr lang="zh-CN" sz="22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724787" y="2214086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静态训练期扩展</a:t>
              </a:r>
              <a:endParaRPr lang="zh-CN" sz="17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727454" y="2556510"/>
              <a:ext cx="1983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稀疏对象：attention edge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33466" y="2286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必须观察</a:t>
              </a:r>
              <a:endParaRPr lang="zh-CN" sz="10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631180" y="2524125"/>
              <a:ext cx="18715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PPL / task quality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010650" y="2314575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381363" y="24203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当前样本集中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9600" y="3028950"/>
              <a:ext cx="102870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9600" y="3028950"/>
              <a:ext cx="838200" cy="800100"/>
            </a:xfrm>
            <a:prstGeom prst="roundRect">
              <a:avLst>
                <a:gd name="adj" fmla="val 1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2447" y="3290888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02</a:t>
              </a:r>
              <a:endParaRPr lang="zh-CN" sz="22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724787" y="3166586"/>
              <a:ext cx="218248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动态 sparse prefill</a:t>
              </a:r>
              <a:endParaRPr lang="zh-CN" sz="17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727454" y="35090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稀疏对象：query–key blocks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633466" y="32394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必须观察</a:t>
              </a:r>
              <a:endParaRPr lang="zh-CN" sz="10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631180" y="3476625"/>
              <a:ext cx="1519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TTFT / latency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010650" y="3267075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487483" y="3372802"/>
              <a:ext cx="646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Q03 待补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09600" y="3981450"/>
              <a:ext cx="102870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09600" y="3981450"/>
              <a:ext cx="838200" cy="800100"/>
            </a:xfrm>
            <a:prstGeom prst="roundRect">
              <a:avLst>
                <a:gd name="adj" fmla="val 1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32447" y="4243388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03</a:t>
              </a:r>
              <a:endParaRPr lang="zh-CN" sz="22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724787" y="4119086"/>
              <a:ext cx="203279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KV / token 稀疏化</a:t>
              </a:r>
              <a:endParaRPr lang="zh-CN" sz="17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727454" y="4461510"/>
              <a:ext cx="1934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稀疏对象：cached tokens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633466" y="4191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必须观察</a:t>
              </a:r>
              <a:endParaRPr lang="zh-CN" sz="10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631180" y="4429125"/>
              <a:ext cx="15630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decode memory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010650" y="4219575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487483" y="4325302"/>
              <a:ext cx="646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Q04 待补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09600" y="4933950"/>
              <a:ext cx="102870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609600" y="4933950"/>
              <a:ext cx="838200" cy="800100"/>
            </a:xfrm>
            <a:prstGeom prst="roundRect">
              <a:avLst>
                <a:gd name="adj" fmla="val 1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32447" y="5195888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04</a:t>
              </a:r>
              <a:endParaRPr lang="zh-CN" sz="22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724787" y="5071586"/>
              <a:ext cx="215696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Kernel-aware 执行</a:t>
              </a:r>
              <a:endParaRPr lang="zh-CN" sz="17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727454" y="5414010"/>
              <a:ext cx="19022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稀疏对象：block / kernel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633466" y="51444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必须观察</a:t>
              </a:r>
              <a:endParaRPr lang="zh-CN" sz="10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631180" y="5381625"/>
              <a:ext cx="19022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throughput / util.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9010650" y="5172075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487483" y="5277802"/>
              <a:ext cx="646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Q06 待补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04647" y="6400800"/>
            <a:ext cx="10982706" cy="342614"/>
            <a:chOff x="604647" y="6400800"/>
            <a:chExt cx="10982706" cy="342614"/>
          </a:xfrm>
        </p:grpSpPr>
        <p:sp>
          <p:nvSpPr>
            <p:cNvPr id="88" name="Line 88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04647" y="6552724"/>
              <a:ext cx="13687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阶段 × 稀疏对象 × 指标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087124" y="6552724"/>
              <a:ext cx="50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03 / 16</a:t>
              </a:r>
              <a:endParaRPr lang="zh-CN" sz="98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4"/>
          <p:cNvGrpSpPr/>
          <p:nvPr/>
        </p:nvGrpSpPr>
        <p:grpSpPr>
          <a:xfrm>
            <a:off x="10325100" y="639128"/>
            <a:ext cx="2324100" cy="6276022"/>
            <a:chOff x="10325100" y="639128"/>
            <a:chExt cx="2324100" cy="6276022"/>
          </a:xfrm>
        </p:grpSpPr>
        <p:sp>
          <p:nvSpPr>
            <p:cNvPr id="2" name="Ellipse 2"/>
            <p:cNvSpPr/>
            <p:nvPr/>
          </p:nvSpPr>
          <p:spPr>
            <a:xfrm>
              <a:off x="10325100" y="4591050"/>
              <a:ext cx="2324100" cy="2324100"/>
            </a:xfrm>
            <a:prstGeom prst="ellipse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801350" y="5067300"/>
              <a:ext cx="1371600" cy="1371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463212" y="6524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627995" y="6457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792778" y="6391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977562" y="6524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142345" y="6457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307128" y="6391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491912" y="6524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656695" y="6457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456545" y="8172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621328" y="8105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806112" y="8239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970895" y="8172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1135678" y="8105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320462" y="8239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485245" y="8172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650028" y="8105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449878" y="9820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634662" y="9953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799445" y="9886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964228" y="9820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1149012" y="9953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313795" y="9886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478578" y="9820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1663362" y="9953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463212" y="11668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627995" y="11601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0792778" y="11534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977562" y="11668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1142345" y="11601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1307128" y="11534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1491912" y="11668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656695" y="11601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456545" y="13315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621328" y="13249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806112" y="13382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970895" y="13315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1135678" y="13249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1320462" y="13382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1485245" y="13315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650028" y="13249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594360" y="428625"/>
            <a:ext cx="7482840" cy="996315"/>
            <a:chOff x="594360" y="428625"/>
            <a:chExt cx="7482840" cy="996315"/>
          </a:xfrm>
        </p:grpSpPr>
        <p:sp>
          <p:nvSpPr>
            <p:cNvPr id="45" name="Rectangle 45"/>
            <p:cNvSpPr/>
            <p:nvPr/>
          </p:nvSpPr>
          <p:spPr>
            <a:xfrm>
              <a:off x="609600" y="428625"/>
              <a:ext cx="16954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71959" y="526256"/>
              <a:ext cx="9707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 · 方法地图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4360" y="838200"/>
              <a:ext cx="60045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当前证据集中在静态训练期分支</a:t>
              </a:r>
              <a:endParaRPr lang="zh-CN" sz="30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9600" y="1295400"/>
              <a:ext cx="74676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609600" y="1885950"/>
            <a:ext cx="8534400" cy="3657600"/>
            <a:chOff x="609600" y="1885950"/>
            <a:chExt cx="8534400" cy="3657600"/>
          </a:xfrm>
        </p:grpSpPr>
        <p:sp>
          <p:nvSpPr>
            <p:cNvPr id="50" name="Rectangle 50"/>
            <p:cNvSpPr/>
            <p:nvPr/>
          </p:nvSpPr>
          <p:spPr>
            <a:xfrm>
              <a:off x="609600" y="2000250"/>
              <a:ext cx="2133600" cy="1162050"/>
            </a:xfrm>
            <a:prstGeom prst="roundRect">
              <a:avLst>
                <a:gd name="adj" fmla="val 11475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33830" y="2214086"/>
              <a:ext cx="168514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S2 / LongLoRA</a:t>
              </a:r>
              <a:endParaRPr lang="zh-CN" sz="17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2777" y="2594610"/>
              <a:ext cx="1587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shifted local groups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85850" y="2895600"/>
              <a:ext cx="118110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470195" y="3009424"/>
              <a:ext cx="4124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DRAFT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581400" y="1885950"/>
              <a:ext cx="2476500" cy="990600"/>
            </a:xfrm>
            <a:prstGeom prst="roundRect">
              <a:avLst>
                <a:gd name="adj" fmla="val 13462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213527" y="2107882"/>
              <a:ext cx="12122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SCCA fixed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280154" y="2442210"/>
              <a:ext cx="1078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固定 K/V 跨块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Ellipse 58"/>
            <p:cNvSpPr/>
            <p:nvPr/>
          </p:nvSpPr>
          <p:spPr>
            <a:xfrm>
              <a:off x="5734050" y="20574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5686425" y="2009775"/>
              <a:ext cx="209550" cy="2095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3581400" y="3276600"/>
              <a:ext cx="2476500" cy="990600"/>
            </a:xfrm>
            <a:prstGeom prst="roundRect">
              <a:avLst>
                <a:gd name="adj" fmla="val 13462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253663" y="3498532"/>
              <a:ext cx="11319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SCCA flow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490466" y="38328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分头位移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Ellipse 63"/>
            <p:cNvSpPr/>
            <p:nvPr/>
          </p:nvSpPr>
          <p:spPr>
            <a:xfrm>
              <a:off x="5734050" y="34480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5686425" y="3400425"/>
              <a:ext cx="209550" cy="2095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667500" y="1885950"/>
              <a:ext cx="2476500" cy="990600"/>
            </a:xfrm>
            <a:prstGeom prst="roundRect">
              <a:avLst>
                <a:gd name="adj" fmla="val 13462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077986" y="2107882"/>
              <a:ext cx="16555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SDA-2 / SDA-4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76566" y="2442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扩张位置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Ellipse 68"/>
            <p:cNvSpPr/>
            <p:nvPr/>
          </p:nvSpPr>
          <p:spPr>
            <a:xfrm>
              <a:off x="8820150" y="20574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8772525" y="2009775"/>
              <a:ext cx="209550" cy="2095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667500" y="3276600"/>
              <a:ext cx="2476500" cy="990600"/>
            </a:xfrm>
            <a:prstGeom prst="roundRect">
              <a:avLst>
                <a:gd name="adj" fmla="val 13462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318769" y="3498532"/>
              <a:ext cx="1173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LongMixed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216398" y="3832860"/>
              <a:ext cx="1378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fixed + SDA heads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Ellipse 73"/>
            <p:cNvSpPr/>
            <p:nvPr/>
          </p:nvSpPr>
          <p:spPr>
            <a:xfrm>
              <a:off x="8820150" y="34480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772525" y="3400425"/>
              <a:ext cx="209550" cy="2095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75" name="Line 75"/>
            <p:cNvSpPr/>
            <p:nvPr/>
          </p:nvSpPr>
          <p:spPr>
            <a:xfrm>
              <a:off x="2743200" y="2381250"/>
              <a:ext cx="838200" cy="190500"/>
            </a:xfrm>
            <a:custGeom>
              <a:avLst/>
              <a:gdLst/>
              <a:ahLst/>
              <a:cxnLst/>
              <a:rect l="l" t="t" r="r" b="b"/>
              <a:pathLst>
                <a:path w="838200" h="190500">
                  <a:moveTo>
                    <a:pt x="0" y="190500"/>
                  </a:moveTo>
                  <a:lnTo>
                    <a:pt x="8382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2743200" y="2571750"/>
              <a:ext cx="838200" cy="1200150"/>
            </a:xfrm>
            <a:custGeom>
              <a:avLst/>
              <a:gdLst/>
              <a:ahLst/>
              <a:cxnLst/>
              <a:rect l="l" t="t" r="r" b="b"/>
              <a:pathLst>
                <a:path w="838200" h="1200150">
                  <a:moveTo>
                    <a:pt x="0" y="0"/>
                  </a:moveTo>
                  <a:lnTo>
                    <a:pt x="838200" y="12001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6057900" y="238125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6057900" y="377190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4819650" y="2876550"/>
              <a:ext cx="3086100" cy="400050"/>
            </a:xfrm>
            <a:custGeom>
              <a:avLst/>
              <a:gdLst/>
              <a:ahLst/>
              <a:cxnLst/>
              <a:rect l="l" t="t" r="r" b="b"/>
              <a:pathLst>
                <a:path w="3086100" h="400050">
                  <a:moveTo>
                    <a:pt x="0" y="0"/>
                  </a:moveTo>
                  <a:lnTo>
                    <a:pt x="3086100" y="4000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  <a:custDash>
                <a:ds d="400000" sp="400000"/>
              </a:custDash>
            </a:ln>
          </p:spPr>
        </p:sp>
        <p:sp>
          <p:nvSpPr>
            <p:cNvPr id="80" name="Rectangle 80"/>
            <p:cNvSpPr/>
            <p:nvPr/>
          </p:nvSpPr>
          <p:spPr>
            <a:xfrm>
              <a:off x="609600" y="4762500"/>
              <a:ext cx="8534400" cy="781050"/>
            </a:xfrm>
            <a:prstGeom prst="roundRect">
              <a:avLst>
                <a:gd name="adj" fmla="val 1463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32104" y="49758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7D8F2"/>
                  </a:solidFill>
                  <a:latin typeface="+mn-lt"/>
                  <a:ea typeface="+mn-ea"/>
                  <a:cs typeface="+mn-cs"/>
                </a:rPr>
                <a:t>当前证据偏置</a:t>
              </a:r>
              <a:endParaRPr lang="zh-CN" sz="1200" b="1" dirty="0">
                <a:solidFill>
                  <a:srgbClr val="A7D8F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30961" y="5256371"/>
              <a:ext cx="78956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已验证分支集中在 1K–8K 的静态训练期 PPL；动态 prefill、decode 与 kernel 尚未闭环。</a:t>
              </a:r>
              <a:endParaRPr lang="zh-CN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604647" y="6400800"/>
            <a:ext cx="10982706" cy="342614"/>
            <a:chOff x="604647" y="6400800"/>
            <a:chExt cx="10982706" cy="342614"/>
          </a:xfrm>
        </p:grpSpPr>
        <p:sp>
          <p:nvSpPr>
            <p:cNvPr id="84" name="Line 84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04647" y="6552724"/>
              <a:ext cx="18229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S2 → SCCA / SDA / LongMixed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087124" y="6552724"/>
              <a:ext cx="50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04 / 16</a:t>
              </a:r>
              <a:endParaRPr lang="zh-CN" sz="98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9"/>
          <p:cNvGrpSpPr/>
          <p:nvPr/>
        </p:nvGrpSpPr>
        <p:grpSpPr>
          <a:xfrm>
            <a:off x="10401300" y="0"/>
            <a:ext cx="1790700" cy="6858000"/>
            <a:chOff x="10401300" y="0"/>
            <a:chExt cx="1790700" cy="6858000"/>
          </a:xfrm>
        </p:grpSpPr>
        <p:sp>
          <p:nvSpPr>
            <p:cNvPr id="2" name="Rectangle 2"/>
            <p:cNvSpPr/>
            <p:nvPr/>
          </p:nvSpPr>
          <p:spPr>
            <a:xfrm>
              <a:off x="11068050" y="0"/>
              <a:ext cx="1123950" cy="6858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401300" y="419100"/>
              <a:ext cx="1562100" cy="156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415588" y="55578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570845" y="55511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726102" y="55445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901362" y="55578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056620" y="55511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211878" y="55445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387138" y="55578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542395" y="55511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1697652" y="55445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08920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56417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739438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89469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049952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22521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380470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153572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1710988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402252" y="586835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577512" y="588168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732770" y="587502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888028" y="586835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063288" y="588168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1218545" y="587502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1373802" y="586835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1549062" y="588168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704320" y="587502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415588" y="60436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570845" y="60369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726102" y="60302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0901362" y="60436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056620" y="60369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1211878" y="60302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1387138" y="60436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1542395" y="60369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697652" y="60302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408920" y="61988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0564178" y="61922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0739438" y="62055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0894695" y="61988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1049952" y="61922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1225212" y="62055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1380470" y="61988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1535728" y="61922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1710988" y="62055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596646" y="428625"/>
            <a:ext cx="7480554" cy="1375982"/>
            <a:chOff x="596646" y="428625"/>
            <a:chExt cx="7480554" cy="1375982"/>
          </a:xfrm>
        </p:grpSpPr>
        <p:sp>
          <p:nvSpPr>
            <p:cNvPr id="50" name="Rectangle 50"/>
            <p:cNvSpPr/>
            <p:nvPr/>
          </p:nvSpPr>
          <p:spPr>
            <a:xfrm>
              <a:off x="609600" y="428625"/>
              <a:ext cx="16954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71959" y="526256"/>
              <a:ext cx="9707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 · 结构变量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6646" y="886778"/>
              <a:ext cx="47411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决定质量的是具体拓扑变量，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6646" y="1305878"/>
              <a:ext cx="44908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不只是“更全局”或“更稀疏”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9600" y="1714500"/>
              <a:ext cx="74676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704850" y="1981200"/>
            <a:ext cx="9667875" cy="3752850"/>
            <a:chOff x="704850" y="1981200"/>
            <a:chExt cx="9667875" cy="3752850"/>
          </a:xfrm>
        </p:grpSpPr>
        <p:sp>
          <p:nvSpPr>
            <p:cNvPr id="56" name="Ellipse 56"/>
            <p:cNvSpPr/>
            <p:nvPr/>
          </p:nvSpPr>
          <p:spPr>
            <a:xfrm>
              <a:off x="4819650" y="2819400"/>
              <a:ext cx="1981200" cy="1981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5124450" y="3124200"/>
              <a:ext cx="1371600" cy="1371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087620" y="3467735"/>
              <a:ext cx="1478915" cy="4102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ATTENTION</a:t>
              </a:r>
              <a:endParaRPr lang="zh-CN" sz="1400" b="1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985004" y="3825240"/>
              <a:ext cx="16504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TOPOLOGY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04850" y="2190750"/>
              <a:ext cx="2705100" cy="819150"/>
            </a:xfrm>
            <a:prstGeom prst="roundRect">
              <a:avLst>
                <a:gd name="adj" fmla="val 16279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86968" y="23364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张量位移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9254" y="2670810"/>
              <a:ext cx="14289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 与 K/V 谁移动？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Line 63"/>
            <p:cNvSpPr/>
            <p:nvPr/>
          </p:nvSpPr>
          <p:spPr>
            <a:xfrm>
              <a:off x="2057400" y="2600325"/>
              <a:ext cx="3752850" cy="1209675"/>
            </a:xfrm>
            <a:custGeom>
              <a:avLst/>
              <a:gdLst/>
              <a:ahLst/>
              <a:cxnLst/>
              <a:rect l="l" t="t" r="r" b="b"/>
              <a:pathLst>
                <a:path w="3752850" h="1209675">
                  <a:moveTo>
                    <a:pt x="3752850" y="12096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sp>
          <p:nvSpPr>
            <p:cNvPr id="64" name="Rectangle 64"/>
            <p:cNvSpPr/>
            <p:nvPr/>
          </p:nvSpPr>
          <p:spPr>
            <a:xfrm>
              <a:off x="4000500" y="1981200"/>
              <a:ext cx="2705100" cy="819150"/>
            </a:xfrm>
            <a:prstGeom prst="roundRect">
              <a:avLst>
                <a:gd name="adj" fmla="val 16279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182618" y="2126932"/>
              <a:ext cx="991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Schedule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184904" y="2461260"/>
              <a:ext cx="21203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fixed / per-head / grouped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Line 67"/>
            <p:cNvSpPr/>
            <p:nvPr/>
          </p:nvSpPr>
          <p:spPr>
            <a:xfrm>
              <a:off x="5353050" y="2390775"/>
              <a:ext cx="457200" cy="1419225"/>
            </a:xfrm>
            <a:custGeom>
              <a:avLst/>
              <a:gdLst/>
              <a:ahLst/>
              <a:cxnLst/>
              <a:rect l="l" t="t" r="r" b="b"/>
              <a:pathLst>
                <a:path w="457200" h="1419225">
                  <a:moveTo>
                    <a:pt x="457200" y="14192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300000" sp="300000"/>
              </a:custDash>
            </a:ln>
          </p:spPr>
        </p:sp>
        <p:sp>
          <p:nvSpPr>
            <p:cNvPr id="68" name="Rectangle 68"/>
            <p:cNvSpPr/>
            <p:nvPr/>
          </p:nvSpPr>
          <p:spPr>
            <a:xfrm>
              <a:off x="7667625" y="2190750"/>
              <a:ext cx="2705100" cy="819150"/>
            </a:xfrm>
            <a:prstGeom prst="roundRect">
              <a:avLst>
                <a:gd name="adj" fmla="val 16279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849743" y="2336482"/>
              <a:ext cx="10586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Head 分配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852029" y="2670810"/>
              <a:ext cx="2104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local / cross / dilated 占比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Line 71"/>
            <p:cNvSpPr/>
            <p:nvPr/>
          </p:nvSpPr>
          <p:spPr>
            <a:xfrm>
              <a:off x="5810250" y="2600325"/>
              <a:ext cx="3209925" cy="1209675"/>
            </a:xfrm>
            <a:custGeom>
              <a:avLst/>
              <a:gdLst/>
              <a:ahLst/>
              <a:cxnLst/>
              <a:rect l="l" t="t" r="r" b="b"/>
              <a:pathLst>
                <a:path w="3209925" h="1209675">
                  <a:moveTo>
                    <a:pt x="0" y="1209675"/>
                  </a:moveTo>
                  <a:lnTo>
                    <a:pt x="320992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custDash>
                <a:ds d="300000" sp="300000"/>
              </a:custDash>
            </a:ln>
          </p:spPr>
        </p:sp>
        <p:sp>
          <p:nvSpPr>
            <p:cNvPr id="72" name="Rectangle 72"/>
            <p:cNvSpPr/>
            <p:nvPr/>
          </p:nvSpPr>
          <p:spPr>
            <a:xfrm>
              <a:off x="1181100" y="4819650"/>
              <a:ext cx="2705100" cy="819150"/>
            </a:xfrm>
            <a:prstGeom prst="roundRect">
              <a:avLst>
                <a:gd name="adj" fmla="val 16279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363218" y="4965382"/>
              <a:ext cx="16916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Pattern mixing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365504" y="52997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模式如何组合？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Line 75"/>
            <p:cNvSpPr/>
            <p:nvPr/>
          </p:nvSpPr>
          <p:spPr>
            <a:xfrm>
              <a:off x="2533650" y="3810000"/>
              <a:ext cx="3276600" cy="1419225"/>
            </a:xfrm>
            <a:custGeom>
              <a:avLst/>
              <a:gdLst/>
              <a:ahLst/>
              <a:cxnLst/>
              <a:rect l="l" t="t" r="r" b="b"/>
              <a:pathLst>
                <a:path w="3276600" h="1419225">
                  <a:moveTo>
                    <a:pt x="3276600" y="0"/>
                  </a:moveTo>
                  <a:lnTo>
                    <a:pt x="0" y="1419225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custDash>
                <a:ds d="300000" sp="300000"/>
              </a:custDash>
            </a:ln>
          </p:spPr>
        </p:sp>
        <p:sp>
          <p:nvSpPr>
            <p:cNvPr id="76" name="Rectangle 76"/>
            <p:cNvSpPr/>
            <p:nvPr/>
          </p:nvSpPr>
          <p:spPr>
            <a:xfrm>
              <a:off x="7581900" y="4819650"/>
              <a:ext cx="2705100" cy="819150"/>
            </a:xfrm>
            <a:prstGeom prst="roundRect">
              <a:avLst>
                <a:gd name="adj" fmla="val 16279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764018" y="4965382"/>
              <a:ext cx="13706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退化 variant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766304" y="52997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同设置是否反而变差？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Line 79"/>
            <p:cNvSpPr/>
            <p:nvPr/>
          </p:nvSpPr>
          <p:spPr>
            <a:xfrm>
              <a:off x="5810250" y="3810000"/>
              <a:ext cx="3124200" cy="1419225"/>
            </a:xfrm>
            <a:custGeom>
              <a:avLst/>
              <a:gdLst/>
              <a:ahLst/>
              <a:cxnLst/>
              <a:rect l="l" t="t" r="r" b="b"/>
              <a:pathLst>
                <a:path w="3124200" h="1419225">
                  <a:moveTo>
                    <a:pt x="0" y="0"/>
                  </a:moveTo>
                  <a:lnTo>
                    <a:pt x="3124200" y="1419225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sp>
          <p:nvSpPr>
            <p:cNvPr id="80" name="Rectangle 80"/>
            <p:cNvSpPr/>
            <p:nvPr/>
          </p:nvSpPr>
          <p:spPr>
            <a:xfrm>
              <a:off x="4438650" y="5410200"/>
              <a:ext cx="274320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4872024" y="5507831"/>
              <a:ext cx="18764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Wiki schema 必须显式记录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04647" y="6400800"/>
            <a:ext cx="10982706" cy="342614"/>
            <a:chOff x="604647" y="6400800"/>
            <a:chExt cx="10982706" cy="342614"/>
          </a:xfrm>
        </p:grpSpPr>
        <p:sp>
          <p:nvSpPr>
            <p:cNvPr id="83" name="Line 83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04647" y="655272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后续跨论文比较的最小结构单元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087124" y="6552724"/>
              <a:ext cx="50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05 / 16</a:t>
              </a:r>
              <a:endParaRPr lang="zh-CN" sz="98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4"/>
          <p:cNvGrpSpPr/>
          <p:nvPr/>
        </p:nvGrpSpPr>
        <p:grpSpPr>
          <a:xfrm>
            <a:off x="10259378" y="-190500"/>
            <a:ext cx="2161222" cy="6637973"/>
            <a:chOff x="10259378" y="-190500"/>
            <a:chExt cx="2161222" cy="6637973"/>
          </a:xfrm>
        </p:grpSpPr>
        <p:sp>
          <p:nvSpPr>
            <p:cNvPr id="2" name="Ellipse 2"/>
            <p:cNvSpPr/>
            <p:nvPr/>
          </p:nvSpPr>
          <p:spPr>
            <a:xfrm>
              <a:off x="10287000" y="-190500"/>
              <a:ext cx="2133600" cy="2133600"/>
            </a:xfrm>
            <a:prstGeom prst="ellipse">
              <a:avLst/>
            </a:prstGeom>
            <a:solidFill>
              <a:schemeClr val="accent2">
                <a:alpha val="92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801350" y="323850"/>
              <a:ext cx="1104900" cy="110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27271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43749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0227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78706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95184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11662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30141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46619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266045" y="58845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30828" y="58778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615612" y="58912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780395" y="58845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945178" y="58778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129962" y="58912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294745" y="58845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459528" y="58778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259378" y="60493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444162" y="60626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08945" y="60559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773728" y="60493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958512" y="60626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123295" y="60559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288078" y="60493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1472862" y="60626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272712" y="62341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437495" y="62274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0602278" y="62207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787062" y="62341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951845" y="62274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1116628" y="62207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1301412" y="62341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466195" y="62274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266045" y="63988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430828" y="63922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615612" y="64055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780395" y="63988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945178" y="63922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1129962" y="64055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1294745" y="63988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459528" y="63922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596646" y="428625"/>
            <a:ext cx="7480554" cy="1375982"/>
            <a:chOff x="596646" y="428625"/>
            <a:chExt cx="7480554" cy="1375982"/>
          </a:xfrm>
        </p:grpSpPr>
        <p:sp>
          <p:nvSpPr>
            <p:cNvPr id="45" name="Rectangle 45"/>
            <p:cNvSpPr/>
            <p:nvPr/>
          </p:nvSpPr>
          <p:spPr>
            <a:xfrm>
              <a:off x="609600" y="428625"/>
              <a:ext cx="16954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96572" y="526256"/>
              <a:ext cx="1121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 · 论文内结果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6646" y="886778"/>
              <a:ext cx="62969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相同 8K 条件下，LongMixed 最好；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6646" y="1305878"/>
              <a:ext cx="37193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SCCA flow 反而略差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9600" y="1714500"/>
              <a:ext cx="74676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601980" y="1987868"/>
            <a:ext cx="9761220" cy="4050982"/>
            <a:chOff x="601980" y="1987868"/>
            <a:chExt cx="9761220" cy="4050982"/>
          </a:xfrm>
        </p:grpSpPr>
        <p:sp>
          <p:nvSpPr>
            <p:cNvPr id="51" name="TextBox 51"/>
            <p:cNvSpPr txBox="1"/>
            <p:nvPr/>
          </p:nvSpPr>
          <p:spPr>
            <a:xfrm>
              <a:off x="602742" y="1987868"/>
              <a:ext cx="24137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PG19 perplexity · 越低越好</a:t>
              </a:r>
              <a:endPara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1980" y="2562225"/>
              <a:ext cx="10672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LongMixed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419350" y="2457450"/>
              <a:ext cx="5715000" cy="400050"/>
            </a:xfrm>
            <a:prstGeom prst="roundRect">
              <a:avLst>
                <a:gd name="adj" fmla="val 190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2419350" y="2457450"/>
              <a:ext cx="6015037" cy="400050"/>
            </a:xfrm>
            <a:prstGeom prst="roundRect">
              <a:avLst>
                <a:gd name="adj" fmla="val 1904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73059" y="2511743"/>
              <a:ext cx="6605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8.73</a:t>
              </a:r>
              <a:endParaRPr lang="zh-CN" sz="1950" b="1" dirty="0">
                <a:solidFill>
                  <a:schemeClr val="accent3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296400" y="2495550"/>
              <a:ext cx="1066800" cy="323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605549" y="2566353"/>
              <a:ext cx="448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−7.2%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1980" y="3228975"/>
              <a:ext cx="1102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SCCA fixed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419350" y="3124200"/>
              <a:ext cx="5715000" cy="400050"/>
            </a:xfrm>
            <a:prstGeom prst="roundRect">
              <a:avLst>
                <a:gd name="adj" fmla="val 190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2419350" y="3124200"/>
              <a:ext cx="4129087" cy="400050"/>
            </a:xfrm>
            <a:prstGeom prst="roundRect">
              <a:avLst>
                <a:gd name="adj" fmla="val 1904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473059" y="3178493"/>
              <a:ext cx="6605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9.17</a:t>
              </a:r>
              <a:endParaRPr lang="zh-CN" sz="19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296400" y="3162300"/>
              <a:ext cx="106680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605549" y="3233103"/>
              <a:ext cx="448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−2.6%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1980" y="3895725"/>
              <a:ext cx="11460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S2 baseline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2419350" y="3790950"/>
              <a:ext cx="5715000" cy="400050"/>
            </a:xfrm>
            <a:prstGeom prst="roundRect">
              <a:avLst>
                <a:gd name="adj" fmla="val 190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2419350" y="3790950"/>
              <a:ext cx="3100387" cy="400050"/>
            </a:xfrm>
            <a:prstGeom prst="roundRect">
              <a:avLst>
                <a:gd name="adj" fmla="val 19048"/>
              </a:avLst>
            </a:prstGeom>
            <a:solidFill>
              <a:srgbClr val="52616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473059" y="3845243"/>
              <a:ext cx="6605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9.41</a:t>
              </a:r>
              <a:endParaRPr lang="zh-CN" sz="195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296400" y="3829050"/>
              <a:ext cx="1066800" cy="323850"/>
            </a:xfrm>
            <a:prstGeom prst="roundRect">
              <a:avLst>
                <a:gd name="adj" fmla="val 50000"/>
              </a:avLst>
            </a:prstGeom>
            <a:solidFill>
              <a:srgbClr val="52616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683115" y="389985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基线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01980" y="4562475"/>
              <a:ext cx="1029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SCCA flow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2419350" y="4457700"/>
              <a:ext cx="5715000" cy="400050"/>
            </a:xfrm>
            <a:prstGeom prst="roundRect">
              <a:avLst>
                <a:gd name="adj" fmla="val 190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2419350" y="4457700"/>
              <a:ext cx="2843212" cy="400050"/>
            </a:xfrm>
            <a:prstGeom prst="roundRect">
              <a:avLst>
                <a:gd name="adj" fmla="val 1904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473059" y="4511993"/>
              <a:ext cx="6605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9.47</a:t>
              </a:r>
              <a:endParaRPr lang="zh-CN" sz="1950" b="1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9296400" y="4495800"/>
              <a:ext cx="106680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605549" y="4566603"/>
              <a:ext cx="448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+0.6%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09600" y="5334000"/>
              <a:ext cx="9753600" cy="704850"/>
            </a:xfrm>
            <a:prstGeom prst="roundRect">
              <a:avLst>
                <a:gd name="adj" fmla="val 1621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32485" y="54983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7D8F2"/>
                  </a:solidFill>
                  <a:latin typeface="+mn-lt"/>
                  <a:ea typeface="+mn-ea"/>
                  <a:cs typeface="+mn-cs"/>
                </a:rPr>
                <a:t>同一设置</a:t>
              </a:r>
              <a:endParaRPr lang="zh-CN" sz="1120" b="1" dirty="0">
                <a:solidFill>
                  <a:srgbClr val="A7D8F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30961" y="5751671"/>
              <a:ext cx="51916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LLaMA2-7B · PI + LoRA · RedPajama 子集 · 8K context</a:t>
              </a:r>
              <a:endParaRPr lang="zh-CN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233714" y="5792152"/>
              <a:ext cx="90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A7D8F2"/>
                  </a:solidFill>
                  <a:latin typeface="+mn-lt"/>
                  <a:ea typeface="+mn-ea"/>
                  <a:cs typeface="+mn-cs"/>
                </a:rPr>
                <a:t>SCCA Table 2</a:t>
              </a:r>
              <a:endParaRPr lang="zh-CN" sz="1050" b="1" dirty="0">
                <a:solidFill>
                  <a:srgbClr val="A7D8F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04647" y="6400800"/>
            <a:ext cx="10982706" cy="342614"/>
            <a:chOff x="604647" y="6400800"/>
            <a:chExt cx="10982706" cy="342614"/>
          </a:xfrm>
        </p:grpSpPr>
        <p:sp>
          <p:nvSpPr>
            <p:cNvPr id="81" name="Line 81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04647" y="6552724"/>
              <a:ext cx="21352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论文内受控证据 · SCCA PDF p.5–6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087124" y="6552724"/>
              <a:ext cx="50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06 / 16</a:t>
              </a:r>
              <a:endParaRPr lang="zh-CN" sz="98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4"/>
          <p:cNvGrpSpPr/>
          <p:nvPr/>
        </p:nvGrpSpPr>
        <p:grpSpPr>
          <a:xfrm>
            <a:off x="10325100" y="639128"/>
            <a:ext cx="2324100" cy="6276022"/>
            <a:chOff x="10325100" y="639128"/>
            <a:chExt cx="2324100" cy="6276022"/>
          </a:xfrm>
        </p:grpSpPr>
        <p:sp>
          <p:nvSpPr>
            <p:cNvPr id="2" name="Ellipse 2"/>
            <p:cNvSpPr/>
            <p:nvPr/>
          </p:nvSpPr>
          <p:spPr>
            <a:xfrm>
              <a:off x="10325100" y="4591050"/>
              <a:ext cx="2324100" cy="2324100"/>
            </a:xfrm>
            <a:prstGeom prst="ellipse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801350" y="5067300"/>
              <a:ext cx="1371600" cy="1371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463212" y="6524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627995" y="6457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792778" y="6391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977562" y="6524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142345" y="6457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307128" y="6391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491912" y="6524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656695" y="6457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456545" y="8172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621328" y="8105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806112" y="8239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970895" y="8172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1135678" y="8105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320462" y="8239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485245" y="8172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650028" y="8105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449878" y="9820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634662" y="9953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799445" y="9886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964228" y="9820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1149012" y="9953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313795" y="9886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478578" y="9820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1663362" y="9953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463212" y="11668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627995" y="11601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0792778" y="11534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977562" y="11668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1142345" y="11601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1307128" y="11534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1491912" y="11668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656695" y="11601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456545" y="13315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621328" y="13249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806112" y="13382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970895" y="13315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1135678" y="13249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1320462" y="13382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1485245" y="13315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650028" y="13249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594360" y="428625"/>
            <a:ext cx="7482840" cy="996315"/>
            <a:chOff x="594360" y="428625"/>
            <a:chExt cx="7482840" cy="996315"/>
          </a:xfrm>
        </p:grpSpPr>
        <p:sp>
          <p:nvSpPr>
            <p:cNvPr id="45" name="Rectangle 45"/>
            <p:cNvSpPr/>
            <p:nvPr/>
          </p:nvSpPr>
          <p:spPr>
            <a:xfrm>
              <a:off x="609600" y="428625"/>
              <a:ext cx="16954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96572" y="526256"/>
              <a:ext cx="1121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 · 非共识边界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4360" y="838200"/>
              <a:ext cx="42976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证据强度决定结论边界</a:t>
              </a:r>
              <a:endParaRPr lang="zh-CN" sz="30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9600" y="1295400"/>
              <a:ext cx="74676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876300" y="2362200"/>
            <a:ext cx="9601200" cy="3655695"/>
            <a:chOff x="876300" y="2362200"/>
            <a:chExt cx="9601200" cy="3655695"/>
          </a:xfrm>
        </p:grpSpPr>
        <p:sp>
          <p:nvSpPr>
            <p:cNvPr id="50" name="Ellipse 50"/>
            <p:cNvSpPr/>
            <p:nvPr/>
          </p:nvSpPr>
          <p:spPr>
            <a:xfrm>
              <a:off x="4457700" y="2533650"/>
              <a:ext cx="2514600" cy="2514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4838700" y="2914650"/>
              <a:ext cx="1752600" cy="175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53799" y="34547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非共识线索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895825" y="3747611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更大全局感受野</a:t>
              </a:r>
              <a:endParaRPr lang="zh-CN" sz="17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139817" y="4052411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≠ 更好质量</a:t>
              </a:r>
              <a:endParaRPr lang="zh-CN" sz="17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76300" y="2362200"/>
              <a:ext cx="2514600" cy="876300"/>
            </a:xfrm>
            <a:prstGeom prst="roundRect">
              <a:avLst>
                <a:gd name="adj" fmla="val 15217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78230" y="25336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论文内数值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085850" y="2838450"/>
              <a:ext cx="1562100" cy="323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576535" y="2952274"/>
              <a:ext cx="5807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VERIFIED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Line 59"/>
            <p:cNvSpPr/>
            <p:nvPr/>
          </p:nvSpPr>
          <p:spPr>
            <a:xfrm>
              <a:off x="2133600" y="2800350"/>
              <a:ext cx="3581400" cy="990600"/>
            </a:xfrm>
            <a:custGeom>
              <a:avLst/>
              <a:gdLst/>
              <a:ahLst/>
              <a:cxnLst/>
              <a:rect l="l" t="t" r="r" b="b"/>
              <a:pathLst>
                <a:path w="3581400" h="990600">
                  <a:moveTo>
                    <a:pt x="3581400" y="9906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300000" sp="300000"/>
              </a:custDash>
            </a:ln>
          </p:spPr>
        </p:sp>
        <p:sp>
          <p:nvSpPr>
            <p:cNvPr id="60" name="Rectangle 60"/>
            <p:cNvSpPr/>
            <p:nvPr/>
          </p:nvSpPr>
          <p:spPr>
            <a:xfrm>
              <a:off x="7962900" y="2362200"/>
              <a:ext cx="2514600" cy="876300"/>
            </a:xfrm>
            <a:prstGeom prst="roundRect">
              <a:avLst>
                <a:gd name="adj" fmla="val 15217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164830" y="25336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跨论文共识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172450" y="2838450"/>
              <a:ext cx="156210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20429" y="2952274"/>
              <a:ext cx="8661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INSUFFICIENT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Line 64"/>
            <p:cNvSpPr/>
            <p:nvPr/>
          </p:nvSpPr>
          <p:spPr>
            <a:xfrm>
              <a:off x="5715000" y="2800350"/>
              <a:ext cx="3505200" cy="990600"/>
            </a:xfrm>
            <a:custGeom>
              <a:avLst/>
              <a:gdLst/>
              <a:ahLst/>
              <a:cxnLst/>
              <a:rect l="l" t="t" r="r" b="b"/>
              <a:pathLst>
                <a:path w="3505200" h="990600">
                  <a:moveTo>
                    <a:pt x="0" y="990600"/>
                  </a:moveTo>
                  <a:lnTo>
                    <a:pt x="3505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sp>
          <p:nvSpPr>
            <p:cNvPr id="65" name="Rectangle 65"/>
            <p:cNvSpPr/>
            <p:nvPr/>
          </p:nvSpPr>
          <p:spPr>
            <a:xfrm>
              <a:off x="876300" y="4762500"/>
              <a:ext cx="2514600" cy="876300"/>
            </a:xfrm>
            <a:prstGeom prst="roundRect">
              <a:avLst>
                <a:gd name="adj" fmla="val 15217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78230" y="4933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工程性能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085850" y="5238750"/>
              <a:ext cx="156210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433829" y="5352574"/>
              <a:ext cx="8661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INSUFFICIENT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Line 69"/>
            <p:cNvSpPr/>
            <p:nvPr/>
          </p:nvSpPr>
          <p:spPr>
            <a:xfrm>
              <a:off x="2133600" y="3790950"/>
              <a:ext cx="3581400" cy="1409700"/>
            </a:xfrm>
            <a:custGeom>
              <a:avLst/>
              <a:gdLst/>
              <a:ahLst/>
              <a:cxnLst/>
              <a:rect l="l" t="t" r="r" b="b"/>
              <a:pathLst>
                <a:path w="3581400" h="1409700">
                  <a:moveTo>
                    <a:pt x="3581400" y="0"/>
                  </a:moveTo>
                  <a:lnTo>
                    <a:pt x="0" y="14097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sp>
          <p:nvSpPr>
            <p:cNvPr id="70" name="Rectangle 70"/>
            <p:cNvSpPr/>
            <p:nvPr/>
          </p:nvSpPr>
          <p:spPr>
            <a:xfrm>
              <a:off x="7962900" y="4762500"/>
              <a:ext cx="2514600" cy="876300"/>
            </a:xfrm>
            <a:prstGeom prst="roundRect">
              <a:avLst>
                <a:gd name="adj" fmla="val 15217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164830" y="49339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真实任务外推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172450" y="5238750"/>
              <a:ext cx="156210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520429" y="5352574"/>
              <a:ext cx="8661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INSUFFICIENT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Line 74"/>
            <p:cNvSpPr/>
            <p:nvPr/>
          </p:nvSpPr>
          <p:spPr>
            <a:xfrm>
              <a:off x="5715000" y="3790950"/>
              <a:ext cx="3505200" cy="1409700"/>
            </a:xfrm>
            <a:custGeom>
              <a:avLst/>
              <a:gdLst/>
              <a:ahLst/>
              <a:cxnLst/>
              <a:rect l="l" t="t" r="r" b="b"/>
              <a:pathLst>
                <a:path w="3505200" h="1409700">
                  <a:moveTo>
                    <a:pt x="0" y="0"/>
                  </a:moveTo>
                  <a:lnTo>
                    <a:pt x="3505200" y="14097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990975" y="572452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能否定过强直觉，但不能宣称普遍规律</a:t>
              </a:r>
              <a:endPara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04647" y="6400800"/>
            <a:ext cx="10982706" cy="342614"/>
            <a:chOff x="604647" y="6400800"/>
            <a:chExt cx="10982706" cy="342614"/>
          </a:xfrm>
        </p:grpSpPr>
        <p:sp>
          <p:nvSpPr>
            <p:cNvPr id="77" name="Line 77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04647" y="65527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verified ≠ consensus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087124" y="6552724"/>
              <a:ext cx="50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07 / 16</a:t>
              </a:r>
              <a:endParaRPr lang="zh-CN" sz="98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9"/>
          <p:cNvGrpSpPr/>
          <p:nvPr/>
        </p:nvGrpSpPr>
        <p:grpSpPr>
          <a:xfrm>
            <a:off x="10401300" y="0"/>
            <a:ext cx="1790700" cy="6858000"/>
            <a:chOff x="10401300" y="0"/>
            <a:chExt cx="1790700" cy="6858000"/>
          </a:xfrm>
        </p:grpSpPr>
        <p:sp>
          <p:nvSpPr>
            <p:cNvPr id="2" name="Rectangle 2"/>
            <p:cNvSpPr/>
            <p:nvPr/>
          </p:nvSpPr>
          <p:spPr>
            <a:xfrm>
              <a:off x="11068050" y="0"/>
              <a:ext cx="1123950" cy="6858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401300" y="419100"/>
              <a:ext cx="1562100" cy="156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415588" y="55578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570845" y="55511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726102" y="55445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901362" y="55578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056620" y="55511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211878" y="55445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387138" y="55578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542395" y="55511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1697652" y="55445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08920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56417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739438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89469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049952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22521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380470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153572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1710988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402252" y="586835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577512" y="588168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732770" y="587502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888028" y="586835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063288" y="588168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1218545" y="587502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1373802" y="586835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1549062" y="588168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704320" y="587502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415588" y="60436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570845" y="60369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726102" y="60302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0901362" y="60436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056620" y="60369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1211878" y="60302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1387138" y="60436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1542395" y="60369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697652" y="60302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408920" y="61988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0564178" y="61922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0739438" y="62055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0894695" y="61988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1049952" y="61922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1225212" y="62055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1380470" y="61988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1535728" y="61922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1710988" y="62055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594360" y="428625"/>
            <a:ext cx="7686431" cy="996315"/>
            <a:chOff x="594360" y="428625"/>
            <a:chExt cx="7686431" cy="996315"/>
          </a:xfrm>
        </p:grpSpPr>
        <p:sp>
          <p:nvSpPr>
            <p:cNvPr id="50" name="Rectangle 50"/>
            <p:cNvSpPr/>
            <p:nvPr/>
          </p:nvSpPr>
          <p:spPr>
            <a:xfrm>
              <a:off x="609600" y="428625"/>
              <a:ext cx="16954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6548" y="526256"/>
              <a:ext cx="1541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 · Benchmark 地图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4360" y="838200"/>
              <a:ext cx="768643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Perplexity 不能代表完整长文任务能力</a:t>
              </a:r>
              <a:endParaRPr lang="zh-CN" sz="30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9600" y="1295400"/>
              <a:ext cx="74676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609600" y="2171700"/>
            <a:ext cx="10096500" cy="3752850"/>
            <a:chOff x="609600" y="2171700"/>
            <a:chExt cx="10096500" cy="3752850"/>
          </a:xfrm>
        </p:grpSpPr>
        <p:sp>
          <p:nvSpPr>
            <p:cNvPr id="55" name="Rectangle 55"/>
            <p:cNvSpPr/>
            <p:nvPr/>
          </p:nvSpPr>
          <p:spPr>
            <a:xfrm>
              <a:off x="609600" y="2171700"/>
              <a:ext cx="10096500" cy="1123950"/>
            </a:xfrm>
            <a:prstGeom prst="roundRect">
              <a:avLst>
                <a:gd name="adj" fmla="val 11864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9600" y="2171700"/>
              <a:ext cx="971550" cy="1123950"/>
            </a:xfrm>
            <a:prstGeom prst="roundRect">
              <a:avLst>
                <a:gd name="adj" fmla="val 1372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72955" y="2582228"/>
              <a:ext cx="4448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01</a:t>
              </a:r>
              <a:endParaRPr lang="zh-CN" sz="25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876806" y="23774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语言建模质量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879092" y="2787968"/>
              <a:ext cx="2667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PG19 / Proof-pile PPL · 1K–8K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724900" y="2571750"/>
              <a:ext cx="1676400" cy="323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079093" y="2677478"/>
              <a:ext cx="968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 VERIFIED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09600" y="3486150"/>
              <a:ext cx="10096500" cy="1123950"/>
            </a:xfrm>
            <a:prstGeom prst="roundRect">
              <a:avLst>
                <a:gd name="adj" fmla="val 11864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09600" y="3486150"/>
              <a:ext cx="971550" cy="1123950"/>
            </a:xfrm>
            <a:prstGeom prst="roundRect">
              <a:avLst>
                <a:gd name="adj" fmla="val 1372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72955" y="3896678"/>
              <a:ext cx="4448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02</a:t>
              </a:r>
              <a:endParaRPr lang="zh-CN" sz="25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876806" y="36918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真实长文任务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879092" y="4102418"/>
              <a:ext cx="33829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QA · retrieval · 多跳推理 · 摘要 · 代码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724900" y="3886200"/>
              <a:ext cx="167640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345740" y="39919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待验证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09600" y="4800600"/>
              <a:ext cx="10096500" cy="1123950"/>
            </a:xfrm>
            <a:prstGeom prst="roundRect">
              <a:avLst>
                <a:gd name="adj" fmla="val 11864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09600" y="4800600"/>
              <a:ext cx="971550" cy="1123950"/>
            </a:xfrm>
            <a:prstGeom prst="roundRect">
              <a:avLst>
                <a:gd name="adj" fmla="val 1372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72955" y="5211128"/>
              <a:ext cx="4448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03</a:t>
              </a:r>
              <a:endParaRPr lang="zh-CN" sz="25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876806" y="50063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工程效率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879092" y="5416868"/>
              <a:ext cx="50000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TTFT · latency · throughput · peak memory · KV memory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724900" y="5200650"/>
              <a:ext cx="167640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345740" y="53063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待验证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04647" y="6400800"/>
            <a:ext cx="10982706" cy="342614"/>
            <a:chOff x="604647" y="6400800"/>
            <a:chExt cx="10982706" cy="342614"/>
          </a:xfrm>
        </p:grpSpPr>
        <p:sp>
          <p:nvSpPr>
            <p:cNvPr id="77" name="Line 77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04647" y="6552724"/>
              <a:ext cx="25225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Quality / Task / Engineering 三条证据轴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087124" y="6552724"/>
              <a:ext cx="50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08 / 16</a:t>
              </a:r>
              <a:endParaRPr lang="zh-CN" sz="98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4"/>
          <p:cNvGrpSpPr/>
          <p:nvPr/>
        </p:nvGrpSpPr>
        <p:grpSpPr>
          <a:xfrm>
            <a:off x="10259378" y="-190500"/>
            <a:ext cx="2161222" cy="6637973"/>
            <a:chOff x="10259378" y="-190500"/>
            <a:chExt cx="2161222" cy="6637973"/>
          </a:xfrm>
        </p:grpSpPr>
        <p:sp>
          <p:nvSpPr>
            <p:cNvPr id="2" name="Ellipse 2"/>
            <p:cNvSpPr/>
            <p:nvPr/>
          </p:nvSpPr>
          <p:spPr>
            <a:xfrm>
              <a:off x="10287000" y="-190500"/>
              <a:ext cx="2133600" cy="2133600"/>
            </a:xfrm>
            <a:prstGeom prst="ellipse">
              <a:avLst/>
            </a:prstGeom>
            <a:solidFill>
              <a:schemeClr val="accent2">
                <a:alpha val="92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801350" y="323850"/>
              <a:ext cx="1104900" cy="110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27271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43749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0227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78706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95184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11662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30141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46619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266045" y="58845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30828" y="58778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615612" y="58912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780395" y="58845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945178" y="58778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129962" y="58912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294745" y="58845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459528" y="58778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259378" y="60493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444162" y="60626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08945" y="60559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773728" y="60493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958512" y="60626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123295" y="60559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288078" y="60493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1472862" y="60626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272712" y="62341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437495" y="62274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0602278" y="62207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787062" y="62341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951845" y="62274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1116628" y="62207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1301412" y="62341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466195" y="62274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266045" y="63988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430828" y="63922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615612" y="64055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780395" y="63988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945178" y="63922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1129962" y="64055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1294745" y="63988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459528" y="63922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596646" y="428625"/>
            <a:ext cx="7480554" cy="1375982"/>
            <a:chOff x="596646" y="428625"/>
            <a:chExt cx="7480554" cy="1375982"/>
          </a:xfrm>
        </p:grpSpPr>
        <p:sp>
          <p:nvSpPr>
            <p:cNvPr id="45" name="Rectangle 45"/>
            <p:cNvSpPr/>
            <p:nvPr/>
          </p:nvSpPr>
          <p:spPr>
            <a:xfrm>
              <a:off x="609600" y="428625"/>
              <a:ext cx="16954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71959" y="526256"/>
              <a:ext cx="9707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 · 工程瓶颈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6646" y="886778"/>
              <a:ext cx="54058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理论复杂度穿过 kernel 与硬件，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6646" y="1305878"/>
              <a:ext cx="32903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才可能成为真实加速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9600" y="1714500"/>
              <a:ext cx="74676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609600" y="2340610"/>
            <a:ext cx="10972800" cy="3228975"/>
            <a:chOff x="609600" y="2333625"/>
            <a:chExt cx="10972800" cy="3228975"/>
          </a:xfrm>
        </p:grpSpPr>
        <p:sp>
          <p:nvSpPr>
            <p:cNvPr id="51" name="Rectangle 51"/>
            <p:cNvSpPr/>
            <p:nvPr/>
          </p:nvSpPr>
          <p:spPr>
            <a:xfrm>
              <a:off x="609600" y="2333625"/>
              <a:ext cx="2000250" cy="1200150"/>
            </a:xfrm>
            <a:prstGeom prst="roundRect">
              <a:avLst>
                <a:gd name="adj" fmla="val 1269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98245" y="26003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7D8F2"/>
                  </a:solidFill>
                  <a:latin typeface="+mn-lt"/>
                  <a:ea typeface="+mn-ea"/>
                  <a:cs typeface="+mn-cs"/>
                </a:rPr>
                <a:t>理论承诺</a:t>
              </a:r>
              <a:endParaRPr lang="zh-CN" sz="1500" b="1" dirty="0">
                <a:solidFill>
                  <a:srgbClr val="A7D8F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8195" y="2938462"/>
              <a:ext cx="16230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线性复杂度</a:t>
              </a:r>
              <a:endParaRPr lang="zh-CN" sz="22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181350" y="2333625"/>
              <a:ext cx="1428750" cy="12001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3762375" y="247650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458464" y="29484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不规则访存</a:t>
              </a:r>
              <a:endPara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Line 57"/>
            <p:cNvSpPr/>
            <p:nvPr/>
          </p:nvSpPr>
          <p:spPr>
            <a:xfrm>
              <a:off x="2609850" y="2933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4914900" y="2333625"/>
              <a:ext cx="1428750" cy="12001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5495925" y="247650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070533" y="2948464"/>
              <a:ext cx="11174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索引 / select</a:t>
              </a:r>
              <a:endPara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Line 61"/>
            <p:cNvSpPr/>
            <p:nvPr/>
          </p:nvSpPr>
          <p:spPr>
            <a:xfrm>
              <a:off x="4343400" y="2933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648450" y="2333625"/>
              <a:ext cx="1428750" cy="12001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7229475" y="247650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77374" y="2948464"/>
              <a:ext cx="11709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kernel launch</a:t>
              </a:r>
              <a:endPara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Line 65"/>
            <p:cNvSpPr/>
            <p:nvPr/>
          </p:nvSpPr>
          <p:spPr>
            <a:xfrm>
              <a:off x="6076950" y="2933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382000" y="2333625"/>
              <a:ext cx="1428750" cy="12001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8963025" y="247650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659114" y="29484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硬件利用率</a:t>
              </a:r>
              <a:endPara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Line 69"/>
            <p:cNvSpPr/>
            <p:nvPr/>
          </p:nvSpPr>
          <p:spPr>
            <a:xfrm>
              <a:off x="7810500" y="2933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10096500" y="2333625"/>
              <a:ext cx="1485900" cy="1200150"/>
            </a:xfrm>
            <a:prstGeom prst="roundRect">
              <a:avLst>
                <a:gd name="adj" fmla="val 1269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469118" y="2597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真实收益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610804" y="294036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TTFT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307826" y="3188018"/>
              <a:ext cx="1063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throughput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09600" y="4095750"/>
              <a:ext cx="4953000" cy="1466850"/>
            </a:xfrm>
            <a:prstGeom prst="roundRect">
              <a:avLst>
                <a:gd name="adj" fmla="val 909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800100" y="4286250"/>
              <a:ext cx="118110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103041" y="4378008"/>
              <a:ext cx="575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PREFILL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91718" y="4660582"/>
              <a:ext cx="3015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主瓶颈：attention compute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93242" y="5054918"/>
              <a:ext cx="2230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必须实测：TTFT / latency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791200" y="4095750"/>
              <a:ext cx="4953000" cy="1466850"/>
            </a:xfrm>
            <a:prstGeom prst="roundRect">
              <a:avLst>
                <a:gd name="adj" fmla="val 909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5981700" y="4286250"/>
              <a:ext cx="118110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292482" y="4378008"/>
              <a:ext cx="559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DECODE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973318" y="4660582"/>
              <a:ext cx="21241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主瓶颈：KV memory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974842" y="5054918"/>
              <a:ext cx="31668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必须实测：token selection / memory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604647" y="6400800"/>
            <a:ext cx="10982706" cy="342614"/>
            <a:chOff x="604647" y="6400800"/>
            <a:chExt cx="10982706" cy="342614"/>
          </a:xfrm>
        </p:grpSpPr>
        <p:sp>
          <p:nvSpPr>
            <p:cNvPr id="85" name="Line 85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04647" y="6552724"/>
              <a:ext cx="20768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理论 FLOPs ≠ wall-clock speedup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087124" y="6552724"/>
              <a:ext cx="50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09 / 16</a:t>
              </a:r>
              <a:endParaRPr lang="zh-CN" sz="98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4"/>
          <p:cNvGrpSpPr/>
          <p:nvPr/>
        </p:nvGrpSpPr>
        <p:grpSpPr>
          <a:xfrm>
            <a:off x="10325100" y="639128"/>
            <a:ext cx="2324100" cy="6276022"/>
            <a:chOff x="10325100" y="639128"/>
            <a:chExt cx="2324100" cy="6276022"/>
          </a:xfrm>
        </p:grpSpPr>
        <p:sp>
          <p:nvSpPr>
            <p:cNvPr id="2" name="Ellipse 2"/>
            <p:cNvSpPr/>
            <p:nvPr/>
          </p:nvSpPr>
          <p:spPr>
            <a:xfrm>
              <a:off x="10325100" y="4591050"/>
              <a:ext cx="2324100" cy="2324100"/>
            </a:xfrm>
            <a:prstGeom prst="ellipse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801350" y="5067300"/>
              <a:ext cx="1371600" cy="1371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463212" y="6524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627995" y="6457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792778" y="6391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977562" y="6524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142345" y="6457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307128" y="6391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491912" y="6524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656695" y="6457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456545" y="8172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621328" y="8105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806112" y="8239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970895" y="8172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1135678" y="8105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320462" y="8239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485245" y="8172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650028" y="8105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449878" y="9820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634662" y="9953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799445" y="9886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964228" y="9820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1149012" y="9953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313795" y="9886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478578" y="9820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1663362" y="9953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463212" y="11668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627995" y="11601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0792778" y="11534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977562" y="11668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1142345" y="11601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1307128" y="11534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1491912" y="11668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656695" y="11601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456545" y="13315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621328" y="13249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806112" y="13382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970895" y="13315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1135678" y="13249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1320462" y="13382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1485245" y="13315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650028" y="13249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596646" y="428625"/>
            <a:ext cx="7480554" cy="1375982"/>
            <a:chOff x="596646" y="428625"/>
            <a:chExt cx="7480554" cy="1375982"/>
          </a:xfrm>
        </p:grpSpPr>
        <p:sp>
          <p:nvSpPr>
            <p:cNvPr id="45" name="Rectangle 45"/>
            <p:cNvSpPr/>
            <p:nvPr/>
          </p:nvSpPr>
          <p:spPr>
            <a:xfrm>
              <a:off x="609600" y="428625"/>
              <a:ext cx="16954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96572" y="526256"/>
              <a:ext cx="1121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09 · 开源与复现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6646" y="886778"/>
              <a:ext cx="48916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开源项目不是一个 URL，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6646" y="1305878"/>
              <a:ext cx="36530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而是一条可复现证据链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9600" y="1714500"/>
              <a:ext cx="74676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914400" y="2114550"/>
            <a:ext cx="10020300" cy="4000500"/>
            <a:chOff x="914400" y="2114550"/>
            <a:chExt cx="10020300" cy="4000500"/>
          </a:xfrm>
        </p:grpSpPr>
        <p:sp>
          <p:nvSpPr>
            <p:cNvPr id="51" name="TextBox 51"/>
            <p:cNvSpPr txBox="1"/>
            <p:nvPr/>
          </p:nvSpPr>
          <p:spPr>
            <a:xfrm>
              <a:off x="4700255" y="2147411"/>
              <a:ext cx="202948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OPEN-SOURCE</a:t>
              </a:r>
              <a:endParaRPr lang="zh-CN" sz="1720" b="1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943600" y="2431256"/>
              <a:ext cx="3542800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≠ REPRODUCIBLE</a:t>
              </a:r>
              <a:endParaRPr lang="zh-CN" sz="262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3" name="Ellipse 53"/>
            <p:cNvSpPr/>
            <p:nvPr/>
          </p:nvSpPr>
          <p:spPr>
            <a:xfrm>
              <a:off x="914400" y="2114550"/>
              <a:ext cx="952500" cy="952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05774" y="2428399"/>
              <a:ext cx="5697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OWNER</a:t>
              </a:r>
              <a:endParaRPr lang="zh-CN" sz="980" b="1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3386" y="26598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官方归属</a:t>
              </a:r>
              <a:endPara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Line 56"/>
            <p:cNvSpPr/>
            <p:nvPr/>
          </p:nvSpPr>
          <p:spPr>
            <a:xfrm>
              <a:off x="1390650" y="2590800"/>
              <a:ext cx="4324350" cy="400050"/>
            </a:xfrm>
            <a:custGeom>
              <a:avLst/>
              <a:gdLst/>
              <a:ahLst/>
              <a:cxnLst/>
              <a:rect l="l" t="t" r="r" b="b"/>
              <a:pathLst>
                <a:path w="4324350" h="400050">
                  <a:moveTo>
                    <a:pt x="4324350" y="4000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  <a:custDash>
                <a:ds d="300000" sp="300000"/>
              </a:custDash>
            </a:ln>
          </p:spPr>
        </p:sp>
        <p:sp>
          <p:nvSpPr>
            <p:cNvPr id="57" name="Ellipse 57"/>
            <p:cNvSpPr/>
            <p:nvPr/>
          </p:nvSpPr>
          <p:spPr>
            <a:xfrm>
              <a:off x="914400" y="3581400"/>
              <a:ext cx="952500" cy="952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65785" y="3895249"/>
              <a:ext cx="6497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LICENSE</a:t>
              </a:r>
              <a:endParaRPr lang="zh-CN" sz="980" b="1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234161" y="41267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许可</a:t>
              </a:r>
              <a:endPara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Line 60"/>
            <p:cNvSpPr/>
            <p:nvPr/>
          </p:nvSpPr>
          <p:spPr>
            <a:xfrm>
              <a:off x="1390650" y="2990850"/>
              <a:ext cx="4324350" cy="1066800"/>
            </a:xfrm>
            <a:custGeom>
              <a:avLst/>
              <a:gdLst/>
              <a:ahLst/>
              <a:cxnLst/>
              <a:rect l="l" t="t" r="r" b="b"/>
              <a:pathLst>
                <a:path w="4324350" h="1066800">
                  <a:moveTo>
                    <a:pt x="4324350" y="0"/>
                  </a:moveTo>
                  <a:lnTo>
                    <a:pt x="0" y="10668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  <a:custDash>
                <a:ds d="300000" sp="300000"/>
              </a:custDash>
            </a:ln>
          </p:spPr>
        </p:sp>
        <p:sp>
          <p:nvSpPr>
            <p:cNvPr id="61" name="Ellipse 61"/>
            <p:cNvSpPr/>
            <p:nvPr/>
          </p:nvSpPr>
          <p:spPr>
            <a:xfrm>
              <a:off x="3581400" y="4533900"/>
              <a:ext cx="952500" cy="952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728342" y="4847749"/>
              <a:ext cx="658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COMMIT</a:t>
              </a:r>
              <a:endParaRPr lang="zh-CN" sz="980" b="1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750386" y="50792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固定版本</a:t>
              </a:r>
              <a:endPara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Line 64"/>
            <p:cNvSpPr/>
            <p:nvPr/>
          </p:nvSpPr>
          <p:spPr>
            <a:xfrm>
              <a:off x="4057650" y="2990850"/>
              <a:ext cx="1657350" cy="2019300"/>
            </a:xfrm>
            <a:custGeom>
              <a:avLst/>
              <a:gdLst/>
              <a:ahLst/>
              <a:cxnLst/>
              <a:rect l="l" t="t" r="r" b="b"/>
              <a:pathLst>
                <a:path w="1657350" h="2019300">
                  <a:moveTo>
                    <a:pt x="1657350" y="0"/>
                  </a:moveTo>
                  <a:lnTo>
                    <a:pt x="0" y="20193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  <a:custDash>
                <a:ds d="300000" sp="300000"/>
              </a:custDash>
            </a:ln>
          </p:spPr>
        </p:sp>
        <p:sp>
          <p:nvSpPr>
            <p:cNvPr id="65" name="Ellipse 65"/>
            <p:cNvSpPr/>
            <p:nvPr/>
          </p:nvSpPr>
          <p:spPr>
            <a:xfrm>
              <a:off x="7315200" y="4533900"/>
              <a:ext cx="952500" cy="952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542120" y="4847749"/>
              <a:ext cx="4986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ENTRY</a:t>
              </a:r>
              <a:endParaRPr lang="zh-CN" sz="980" b="1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84186" y="50792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运行入口</a:t>
              </a:r>
              <a:endPara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Line 68"/>
            <p:cNvSpPr/>
            <p:nvPr/>
          </p:nvSpPr>
          <p:spPr>
            <a:xfrm>
              <a:off x="5715000" y="2990850"/>
              <a:ext cx="2076450" cy="2019300"/>
            </a:xfrm>
            <a:custGeom>
              <a:avLst/>
              <a:gdLst/>
              <a:ahLst/>
              <a:cxnLst/>
              <a:rect l="l" t="t" r="r" b="b"/>
              <a:pathLst>
                <a:path w="2076450" h="2019300">
                  <a:moveTo>
                    <a:pt x="0" y="0"/>
                  </a:moveTo>
                  <a:lnTo>
                    <a:pt x="2076450" y="20193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  <a:custDash>
                <a:ds d="300000" sp="300000"/>
              </a:custDash>
            </a:ln>
          </p:spPr>
        </p:sp>
        <p:sp>
          <p:nvSpPr>
            <p:cNvPr id="69" name="Ellipse 69"/>
            <p:cNvSpPr/>
            <p:nvPr/>
          </p:nvSpPr>
          <p:spPr>
            <a:xfrm>
              <a:off x="9982200" y="3581400"/>
              <a:ext cx="952500" cy="952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160244" y="3895249"/>
              <a:ext cx="5964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KERNEL</a:t>
              </a:r>
              <a:endParaRPr lang="zh-CN" sz="980" b="1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000412" y="41267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真实稀疏路径</a:t>
              </a:r>
              <a:endPara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Line 72"/>
            <p:cNvSpPr/>
            <p:nvPr/>
          </p:nvSpPr>
          <p:spPr>
            <a:xfrm>
              <a:off x="5715000" y="2990850"/>
              <a:ext cx="4743450" cy="1066800"/>
            </a:xfrm>
            <a:custGeom>
              <a:avLst/>
              <a:gdLst/>
              <a:ahLst/>
              <a:cxnLst/>
              <a:rect l="l" t="t" r="r" b="b"/>
              <a:pathLst>
                <a:path w="4743450" h="1066800">
                  <a:moveTo>
                    <a:pt x="0" y="0"/>
                  </a:moveTo>
                  <a:lnTo>
                    <a:pt x="4743450" y="10668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  <a:custDash>
                <a:ds d="300000" sp="300000"/>
              </a:custDash>
            </a:ln>
          </p:spPr>
        </p:sp>
        <p:sp>
          <p:nvSpPr>
            <p:cNvPr id="73" name="Ellipse 73"/>
            <p:cNvSpPr/>
            <p:nvPr/>
          </p:nvSpPr>
          <p:spPr>
            <a:xfrm>
              <a:off x="9982200" y="2114550"/>
              <a:ext cx="952500" cy="952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058050" y="2428399"/>
              <a:ext cx="8008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COMMAND</a:t>
              </a:r>
              <a:endParaRPr lang="zh-CN" sz="980" b="1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000412" y="26598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硬件固定命令</a:t>
              </a:r>
              <a:endPara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Line 76"/>
            <p:cNvSpPr/>
            <p:nvPr/>
          </p:nvSpPr>
          <p:spPr>
            <a:xfrm>
              <a:off x="5715000" y="2590800"/>
              <a:ext cx="4743450" cy="400050"/>
            </a:xfrm>
            <a:custGeom>
              <a:avLst/>
              <a:gdLst/>
              <a:ahLst/>
              <a:cxnLst/>
              <a:rect l="l" t="t" r="r" b="b"/>
              <a:pathLst>
                <a:path w="4743450" h="400050">
                  <a:moveTo>
                    <a:pt x="0" y="400050"/>
                  </a:moveTo>
                  <a:lnTo>
                    <a:pt x="47434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  <a:custDash>
                <a:ds d="300000" sp="300000"/>
              </a:custDash>
            </a:ln>
          </p:spPr>
        </p:sp>
        <p:sp>
          <p:nvSpPr>
            <p:cNvPr id="77" name="Rectangle 77"/>
            <p:cNvSpPr/>
            <p:nvPr/>
          </p:nvSpPr>
          <p:spPr>
            <a:xfrm>
              <a:off x="2286000" y="5619750"/>
              <a:ext cx="6858000" cy="495300"/>
            </a:xfrm>
            <a:prstGeom prst="roundRect">
              <a:avLst>
                <a:gd name="adj" fmla="val 2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483925" y="5804535"/>
              <a:ext cx="64621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NEXT · Q03 dynamic prefill · Q04 KV/token · Q06 kernel · Q07 failure baseline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04647" y="6400800"/>
            <a:ext cx="10982706" cy="342614"/>
            <a:chOff x="604647" y="6400800"/>
            <a:chExt cx="10982706" cy="342614"/>
          </a:xfrm>
        </p:grpSpPr>
        <p:sp>
          <p:nvSpPr>
            <p:cNvPr id="80" name="Line 80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04647" y="6552724"/>
              <a:ext cx="21837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当前仓库证据仍未进入 verified Wiki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087124" y="6552724"/>
              <a:ext cx="50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10 / 16</a:t>
              </a:r>
              <a:endParaRPr lang="zh-CN" sz="98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9"/>
          <p:cNvGrpSpPr/>
          <p:nvPr/>
        </p:nvGrpSpPr>
        <p:grpSpPr>
          <a:xfrm>
            <a:off x="10401300" y="0"/>
            <a:ext cx="1790700" cy="6858000"/>
            <a:chOff x="10401300" y="0"/>
            <a:chExt cx="1790700" cy="6858000"/>
          </a:xfrm>
        </p:grpSpPr>
        <p:sp>
          <p:nvSpPr>
            <p:cNvPr id="2" name="Rectangle 2"/>
            <p:cNvSpPr/>
            <p:nvPr/>
          </p:nvSpPr>
          <p:spPr>
            <a:xfrm>
              <a:off x="11068050" y="0"/>
              <a:ext cx="1123950" cy="6858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401300" y="419100"/>
              <a:ext cx="1562100" cy="156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415588" y="55578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570845" y="55511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726102" y="55445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901362" y="55578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056620" y="55511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211878" y="55445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387138" y="55578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542395" y="55511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1697652" y="55445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08920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56417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739438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89469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049952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22521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380470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153572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1710988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402252" y="586835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577512" y="588168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732770" y="587502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888028" y="586835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063288" y="588168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1218545" y="587502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1373802" y="586835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1549062" y="588168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704320" y="587502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415588" y="60436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570845" y="60369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726102" y="60302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0901362" y="60436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056620" y="60369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1211878" y="60302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1387138" y="60436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1542395" y="60369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697652" y="60302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408920" y="61988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0564178" y="61922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0739438" y="62055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0894695" y="61988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1049952" y="61922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1225212" y="62055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1380470" y="61988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1535728" y="61922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1710988" y="62055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594360" y="428625"/>
            <a:ext cx="7482840" cy="996315"/>
            <a:chOff x="594360" y="428625"/>
            <a:chExt cx="7482840" cy="996315"/>
          </a:xfrm>
        </p:grpSpPr>
        <p:sp>
          <p:nvSpPr>
            <p:cNvPr id="50" name="Rectangle 50"/>
            <p:cNvSpPr/>
            <p:nvPr/>
          </p:nvSpPr>
          <p:spPr>
            <a:xfrm>
              <a:off x="609600" y="428625"/>
              <a:ext cx="16954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88918" y="526256"/>
              <a:ext cx="1336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 · Harness 架构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4360" y="838200"/>
              <a:ext cx="68580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领域真源、运行状态与研究控制分开</a:t>
              </a:r>
              <a:endParaRPr lang="zh-CN" sz="30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9600" y="1295400"/>
              <a:ext cx="74676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704850" y="2286000"/>
            <a:ext cx="10191750" cy="3846195"/>
            <a:chOff x="704850" y="2286000"/>
            <a:chExt cx="10191750" cy="3846195"/>
          </a:xfrm>
        </p:grpSpPr>
        <p:sp>
          <p:nvSpPr>
            <p:cNvPr id="55" name="Rectangle 55"/>
            <p:cNvSpPr/>
            <p:nvPr/>
          </p:nvSpPr>
          <p:spPr>
            <a:xfrm>
              <a:off x="4171950" y="2286000"/>
              <a:ext cx="3810000" cy="1524000"/>
            </a:xfrm>
            <a:prstGeom prst="roundRect">
              <a:avLst>
                <a:gd name="adj" fmla="val 1125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023441" y="2521268"/>
              <a:ext cx="2107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A7D8F2"/>
                  </a:solidFill>
                  <a:latin typeface="+mj-lt"/>
                  <a:ea typeface="+mj-ea"/>
                  <a:cs typeface="+mj-cs"/>
                </a:rPr>
                <a:t>RESEARCH HARNESS</a:t>
              </a:r>
              <a:endParaRPr lang="zh-CN" sz="1350" b="1" dirty="0">
                <a:solidFill>
                  <a:srgbClr val="A7D8F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05412" y="2886551"/>
              <a:ext cx="314307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LangChain + LangGraph</a:t>
              </a:r>
              <a:endParaRPr lang="zh-CN" sz="20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855322" y="3340418"/>
              <a:ext cx="2443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Inner tools × Outer control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04850" y="2343150"/>
              <a:ext cx="2000250" cy="781050"/>
            </a:xfrm>
            <a:prstGeom prst="roundRect">
              <a:avLst>
                <a:gd name="adj" fmla="val 17073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98359" y="2647950"/>
              <a:ext cx="10132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CLI / 用户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04850" y="4095750"/>
              <a:ext cx="2000250" cy="781050"/>
            </a:xfrm>
            <a:prstGeom prst="roundRect">
              <a:avLst>
                <a:gd name="adj" fmla="val 17073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92329" y="4400550"/>
              <a:ext cx="12252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DeepXiv SDK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171950" y="4686300"/>
              <a:ext cx="2000250" cy="781050"/>
            </a:xfrm>
            <a:prstGeom prst="roundRect">
              <a:avLst>
                <a:gd name="adj" fmla="val 17073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258367" y="4991100"/>
              <a:ext cx="18274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Markdown / YAML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534150" y="4686300"/>
              <a:ext cx="2000250" cy="781050"/>
            </a:xfrm>
            <a:prstGeom prst="roundRect">
              <a:avLst>
                <a:gd name="adj" fmla="val 17073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017749" y="4991100"/>
              <a:ext cx="10330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D: SQLite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896350" y="4686300"/>
              <a:ext cx="2000250" cy="781050"/>
            </a:xfrm>
            <a:prstGeom prst="roundRect">
              <a:avLst>
                <a:gd name="adj" fmla="val 17073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325285" y="4991100"/>
              <a:ext cx="1142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Error Book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896350" y="2343150"/>
              <a:ext cx="2000250" cy="781050"/>
            </a:xfrm>
            <a:prstGeom prst="roundRect">
              <a:avLst>
                <a:gd name="adj" fmla="val 17073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303815" y="2647950"/>
              <a:ext cx="1185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Outer Loop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Line 71"/>
            <p:cNvSpPr/>
            <p:nvPr/>
          </p:nvSpPr>
          <p:spPr>
            <a:xfrm>
              <a:off x="2705100" y="2733675"/>
              <a:ext cx="1466850" cy="9525"/>
            </a:xfrm>
            <a:custGeom>
              <a:avLst/>
              <a:gdLst/>
              <a:ahLst/>
              <a:cxnLst/>
              <a:rect l="l" t="t" r="r" b="b"/>
              <a:pathLst>
                <a:path w="1466850" h="9525">
                  <a:moveTo>
                    <a:pt x="0" y="0"/>
                  </a:moveTo>
                  <a:lnTo>
                    <a:pt x="1466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7981950" y="2733675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1695450" y="3467100"/>
              <a:ext cx="2476500" cy="628650"/>
            </a:xfrm>
            <a:custGeom>
              <a:avLst/>
              <a:gdLst/>
              <a:ahLst/>
              <a:cxnLst/>
              <a:rect l="l" t="t" r="r" b="b"/>
              <a:pathLst>
                <a:path w="2476500" h="628650">
                  <a:moveTo>
                    <a:pt x="0" y="628650"/>
                  </a:moveTo>
                  <a:lnTo>
                    <a:pt x="2476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custDash>
                <a:ds d="350000" sp="350000"/>
              </a:custDash>
            </a:ln>
          </p:spPr>
        </p:sp>
        <p:sp>
          <p:nvSpPr>
            <p:cNvPr id="74" name="Line 74"/>
            <p:cNvSpPr/>
            <p:nvPr/>
          </p:nvSpPr>
          <p:spPr>
            <a:xfrm>
              <a:off x="5172075" y="3810000"/>
              <a:ext cx="904875" cy="876300"/>
            </a:xfrm>
            <a:custGeom>
              <a:avLst/>
              <a:gdLst/>
              <a:ahLst/>
              <a:cxnLst/>
              <a:rect l="l" t="t" r="r" b="b"/>
              <a:pathLst>
                <a:path w="904875" h="876300">
                  <a:moveTo>
                    <a:pt x="904875" y="0"/>
                  </a:moveTo>
                  <a:lnTo>
                    <a:pt x="0" y="8763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75" name="Line 75"/>
            <p:cNvSpPr/>
            <p:nvPr/>
          </p:nvSpPr>
          <p:spPr>
            <a:xfrm>
              <a:off x="6076950" y="3810000"/>
              <a:ext cx="1457325" cy="876300"/>
            </a:xfrm>
            <a:custGeom>
              <a:avLst/>
              <a:gdLst/>
              <a:ahLst/>
              <a:cxnLst/>
              <a:rect l="l" t="t" r="r" b="b"/>
              <a:pathLst>
                <a:path w="1457325" h="876300">
                  <a:moveTo>
                    <a:pt x="0" y="0"/>
                  </a:moveTo>
                  <a:lnTo>
                    <a:pt x="1457325" y="8763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7981950" y="3467100"/>
              <a:ext cx="1914525" cy="1219200"/>
            </a:xfrm>
            <a:custGeom>
              <a:avLst/>
              <a:gdLst/>
              <a:ahLst/>
              <a:cxnLst/>
              <a:rect l="l" t="t" r="r" b="b"/>
              <a:pathLst>
                <a:path w="1914525" h="1219200">
                  <a:moveTo>
                    <a:pt x="0" y="0"/>
                  </a:moveTo>
                  <a:lnTo>
                    <a:pt x="1914525" y="12192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50000" sp="350000"/>
              </a:custDash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4109095" y="5838825"/>
              <a:ext cx="39357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领域真源 / 可恢复状态 / 研究控制互相分离</a:t>
              </a:r>
              <a:endPara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04647" y="6400800"/>
            <a:ext cx="10982706" cy="342614"/>
            <a:chOff x="604647" y="6400800"/>
            <a:chExt cx="10982706" cy="342614"/>
          </a:xfrm>
        </p:grpSpPr>
        <p:sp>
          <p:nvSpPr>
            <p:cNvPr id="79" name="Line 79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04647" y="6552724"/>
              <a:ext cx="3363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Markdown 真源 · SQLite 状态 · Gap-directed control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087124" y="6552724"/>
              <a:ext cx="50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11 / 16</a:t>
              </a:r>
              <a:endParaRPr lang="zh-CN" sz="98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4"/>
          <p:cNvGrpSpPr/>
          <p:nvPr/>
        </p:nvGrpSpPr>
        <p:grpSpPr>
          <a:xfrm>
            <a:off x="10259378" y="-190500"/>
            <a:ext cx="2161222" cy="6637973"/>
            <a:chOff x="10259378" y="-190500"/>
            <a:chExt cx="2161222" cy="6637973"/>
          </a:xfrm>
        </p:grpSpPr>
        <p:sp>
          <p:nvSpPr>
            <p:cNvPr id="2" name="Ellipse 2"/>
            <p:cNvSpPr/>
            <p:nvPr/>
          </p:nvSpPr>
          <p:spPr>
            <a:xfrm>
              <a:off x="10287000" y="-190500"/>
              <a:ext cx="2133600" cy="2133600"/>
            </a:xfrm>
            <a:prstGeom prst="ellipse">
              <a:avLst/>
            </a:prstGeom>
            <a:solidFill>
              <a:schemeClr val="accent2">
                <a:alpha val="92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801350" y="323850"/>
              <a:ext cx="1104900" cy="110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27271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43749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0227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78706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95184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11662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30141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46619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266045" y="58845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30828" y="58778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615612" y="58912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780395" y="58845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945178" y="58778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129962" y="58912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294745" y="58845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459528" y="58778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259378" y="60493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444162" y="60626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08945" y="60559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773728" y="60493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958512" y="60626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123295" y="60559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288078" y="60493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1472862" y="60626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272712" y="62341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437495" y="62274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0602278" y="62207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787062" y="62341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951845" y="62274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1116628" y="62207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1301412" y="62341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466195" y="62274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266045" y="63988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430828" y="63922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615612" y="64055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780395" y="63988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945178" y="63922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1129962" y="64055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1294745" y="63988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459528" y="63922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594360" y="428625"/>
            <a:ext cx="7482840" cy="996315"/>
            <a:chOff x="594360" y="428625"/>
            <a:chExt cx="7482840" cy="996315"/>
          </a:xfrm>
        </p:grpSpPr>
        <p:sp>
          <p:nvSpPr>
            <p:cNvPr id="45" name="Rectangle 45"/>
            <p:cNvSpPr/>
            <p:nvPr/>
          </p:nvSpPr>
          <p:spPr>
            <a:xfrm>
              <a:off x="609600" y="428625"/>
              <a:ext cx="16954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71959" y="526256"/>
              <a:ext cx="9707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 · 责任边界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4360" y="838200"/>
              <a:ext cx="733528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Skill 定义协议，脚本守住确定性边界</a:t>
              </a:r>
              <a:endParaRPr lang="zh-CN" sz="30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9600" y="1295400"/>
              <a:ext cx="74676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88" name="Group 88"/>
          <p:cNvGrpSpPr/>
          <p:nvPr/>
        </p:nvGrpSpPr>
        <p:grpSpPr>
          <a:xfrm>
            <a:off x="609600" y="2095500"/>
            <a:ext cx="10210800" cy="4038600"/>
            <a:chOff x="609600" y="2095500"/>
            <a:chExt cx="10210800" cy="4038600"/>
          </a:xfrm>
        </p:grpSpPr>
        <p:sp>
          <p:nvSpPr>
            <p:cNvPr id="50" name="Rectangle 50"/>
            <p:cNvSpPr/>
            <p:nvPr/>
          </p:nvSpPr>
          <p:spPr>
            <a:xfrm>
              <a:off x="609600" y="2095500"/>
              <a:ext cx="3238500" cy="33909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9600" y="2095500"/>
              <a:ext cx="3238500" cy="723900"/>
            </a:xfrm>
            <a:prstGeom prst="roundRect">
              <a:avLst>
                <a:gd name="adj" fmla="val 2105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8868" y="2250758"/>
              <a:ext cx="7648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SKILL</a:t>
              </a:r>
              <a:endParaRPr lang="zh-CN" sz="16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948178" y="2299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操作协议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Ellipse 54"/>
            <p:cNvSpPr/>
            <p:nvPr/>
          </p:nvSpPr>
          <p:spPr>
            <a:xfrm>
              <a:off x="876300" y="305752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54430" y="3019425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search-paper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Ellipse 56"/>
            <p:cNvSpPr/>
            <p:nvPr/>
          </p:nvSpPr>
          <p:spPr>
            <a:xfrm>
              <a:off x="876300" y="36099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54430" y="3571875"/>
              <a:ext cx="13616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ingest-paper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Ellipse 58"/>
            <p:cNvSpPr/>
            <p:nvPr/>
          </p:nvSpPr>
          <p:spPr>
            <a:xfrm>
              <a:off x="876300" y="416242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54430" y="4124325"/>
              <a:ext cx="1658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verify-evidence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Ellipse 60"/>
            <p:cNvSpPr/>
            <p:nvPr/>
          </p:nvSpPr>
          <p:spPr>
            <a:xfrm>
              <a:off x="876300" y="47148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54430" y="4676775"/>
              <a:ext cx="16690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revise / analyze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095750" y="2095500"/>
              <a:ext cx="3238500" cy="33909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4095750" y="2095500"/>
              <a:ext cx="3238500" cy="723900"/>
            </a:xfrm>
            <a:prstGeom prst="roundRect">
              <a:avLst>
                <a:gd name="adj" fmla="val 2105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335018" y="2250758"/>
              <a:ext cx="10640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PYTHON</a:t>
              </a:r>
              <a:endParaRPr lang="zh-CN" sz="16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272784" y="2299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确定性执行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Ellipse 66"/>
            <p:cNvSpPr/>
            <p:nvPr/>
          </p:nvSpPr>
          <p:spPr>
            <a:xfrm>
              <a:off x="4362450" y="3057525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640580" y="3019425"/>
              <a:ext cx="1197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ID / schema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Ellipse 68"/>
            <p:cNvSpPr/>
            <p:nvPr/>
          </p:nvSpPr>
          <p:spPr>
            <a:xfrm>
              <a:off x="4362450" y="3609975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640580" y="3571875"/>
              <a:ext cx="1489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去重 / backlink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Ellipse 70"/>
            <p:cNvSpPr/>
            <p:nvPr/>
          </p:nvSpPr>
          <p:spPr>
            <a:xfrm>
              <a:off x="4362450" y="4162425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640580" y="4124325"/>
              <a:ext cx="16661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coverage / Done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Ellipse 72"/>
            <p:cNvSpPr/>
            <p:nvPr/>
          </p:nvSpPr>
          <p:spPr>
            <a:xfrm>
              <a:off x="4362450" y="4714875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640580" y="4676775"/>
              <a:ext cx="1066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预算 / 脱敏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581900" y="2095500"/>
              <a:ext cx="3238500" cy="33909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7581900" y="2095500"/>
              <a:ext cx="3238500" cy="723900"/>
            </a:xfrm>
            <a:prstGeom prst="roundRect">
              <a:avLst>
                <a:gd name="adj" fmla="val 2105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821168" y="2250758"/>
              <a:ext cx="5703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LLM</a:t>
              </a:r>
              <a:endParaRPr lang="zh-CN" sz="16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920478" y="2299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语义判断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Ellipse 78"/>
            <p:cNvSpPr/>
            <p:nvPr/>
          </p:nvSpPr>
          <p:spPr>
            <a:xfrm>
              <a:off x="7848600" y="30575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126730" y="30194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论文语义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0" name="Ellipse 80"/>
            <p:cNvSpPr/>
            <p:nvPr/>
          </p:nvSpPr>
          <p:spPr>
            <a:xfrm>
              <a:off x="7848600" y="360997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126730" y="3571875"/>
              <a:ext cx="1002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claim 分类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Ellipse 82"/>
            <p:cNvSpPr/>
            <p:nvPr/>
          </p:nvSpPr>
          <p:spPr>
            <a:xfrm>
              <a:off x="7848600" y="41624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126730" y="41243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歧义判断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4" name="Ellipse 84"/>
            <p:cNvSpPr/>
            <p:nvPr/>
          </p:nvSpPr>
          <p:spPr>
            <a:xfrm>
              <a:off x="7848600" y="471487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126730" y="46767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跨证据综合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09600" y="5734050"/>
              <a:ext cx="10210800" cy="400050"/>
            </a:xfrm>
            <a:prstGeom prst="roundRect">
              <a:avLst>
                <a:gd name="adj" fmla="val 2381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3799903" y="584549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能计算、能校验、会重复的工作，不交给模型猜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604647" y="6400800"/>
            <a:ext cx="10982706" cy="342614"/>
            <a:chOff x="604647" y="6400800"/>
            <a:chExt cx="10982706" cy="342614"/>
          </a:xfrm>
        </p:grpSpPr>
        <p:sp>
          <p:nvSpPr>
            <p:cNvPr id="89" name="Line 89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04647" y="6552724"/>
              <a:ext cx="1155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Skill ≠ prompt file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087124" y="6552724"/>
              <a:ext cx="50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12 / 16</a:t>
              </a:r>
              <a:endParaRPr lang="zh-CN" sz="98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4"/>
          <p:cNvGrpSpPr/>
          <p:nvPr/>
        </p:nvGrpSpPr>
        <p:grpSpPr>
          <a:xfrm>
            <a:off x="10325100" y="639128"/>
            <a:ext cx="2324100" cy="6276022"/>
            <a:chOff x="10325100" y="639128"/>
            <a:chExt cx="2324100" cy="6276022"/>
          </a:xfrm>
        </p:grpSpPr>
        <p:sp>
          <p:nvSpPr>
            <p:cNvPr id="2" name="Ellipse 2"/>
            <p:cNvSpPr/>
            <p:nvPr/>
          </p:nvSpPr>
          <p:spPr>
            <a:xfrm>
              <a:off x="10325100" y="4591050"/>
              <a:ext cx="2324100" cy="2324100"/>
            </a:xfrm>
            <a:prstGeom prst="ellipse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801350" y="5067300"/>
              <a:ext cx="1371600" cy="1371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463212" y="6524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627995" y="6457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792778" y="6391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977562" y="6524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142345" y="6457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307128" y="6391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491912" y="6524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656695" y="6457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456545" y="8172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621328" y="8105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806112" y="8239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970895" y="8172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1135678" y="8105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320462" y="8239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485245" y="8172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650028" y="8105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449878" y="9820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634662" y="9953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799445" y="9886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964228" y="9820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1149012" y="9953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313795" y="9886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478578" y="9820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1663362" y="9953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463212" y="11668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627995" y="11601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0792778" y="11534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977562" y="11668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1142345" y="11601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1307128" y="11534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1491912" y="11668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656695" y="11601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456545" y="13315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621328" y="13249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806112" y="13382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970895" y="13315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1135678" y="13249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1320462" y="13382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1485245" y="13315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650028" y="13249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596646" y="428625"/>
            <a:ext cx="7480554" cy="1375982"/>
            <a:chOff x="596646" y="428625"/>
            <a:chExt cx="7480554" cy="1375982"/>
          </a:xfrm>
        </p:grpSpPr>
        <p:sp>
          <p:nvSpPr>
            <p:cNvPr id="45" name="Rectangle 45"/>
            <p:cNvSpPr/>
            <p:nvPr/>
          </p:nvSpPr>
          <p:spPr>
            <a:xfrm>
              <a:off x="609600" y="428625"/>
              <a:ext cx="16954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4441" y="526256"/>
              <a:ext cx="1385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 · LoopEngineer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6646" y="886778"/>
              <a:ext cx="51038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每个失败都要形成可执行改进，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6646" y="1305878"/>
              <a:ext cx="29276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而不是只重试模型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9600" y="1714500"/>
              <a:ext cx="74676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2362200" y="2095500"/>
            <a:ext cx="7829550" cy="4153281"/>
            <a:chOff x="2362200" y="2095500"/>
            <a:chExt cx="7829550" cy="4153281"/>
          </a:xfrm>
        </p:grpSpPr>
        <p:sp>
          <p:nvSpPr>
            <p:cNvPr id="51" name="Ellipse 51"/>
            <p:cNvSpPr/>
            <p:nvPr/>
          </p:nvSpPr>
          <p:spPr>
            <a:xfrm>
              <a:off x="4914900" y="2990850"/>
              <a:ext cx="1790700" cy="179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5219700" y="3295650"/>
              <a:ext cx="1181100" cy="1181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357674" y="3717131"/>
              <a:ext cx="905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RESEARCH</a:t>
              </a:r>
              <a:endParaRPr lang="zh-CN" sz="1120" b="1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352250" y="3920490"/>
              <a:ext cx="9160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TRUTH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914900" y="2095500"/>
              <a:ext cx="2324100" cy="762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600398" y="2262664"/>
              <a:ext cx="9531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OBSERVE</a:t>
              </a:r>
              <a:endParaRPr lang="zh-CN" sz="128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385211" y="2536031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artifact + metrics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867650" y="2857500"/>
              <a:ext cx="2324100" cy="762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541541" y="3024664"/>
              <a:ext cx="9763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CLASSIFY</a:t>
              </a:r>
              <a:endParaRPr lang="zh-CN" sz="1280" b="1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60578" y="3298031"/>
              <a:ext cx="13382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schema / evidence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429500" y="4914900"/>
              <a:ext cx="2324100" cy="762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202049" y="5082064"/>
              <a:ext cx="7790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CHANGE</a:t>
              </a:r>
              <a:endParaRPr lang="zh-CN" sz="1280" b="1" dirty="0">
                <a:solidFill>
                  <a:schemeClr val="accent3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21731" y="5355431"/>
              <a:ext cx="15396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script / Skill / query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028950" y="4914900"/>
              <a:ext cx="2324100" cy="762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865336" y="5082064"/>
              <a:ext cx="651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RERUN</a:t>
              </a:r>
              <a:endParaRPr lang="zh-CN" sz="128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619881" y="5355431"/>
              <a:ext cx="1142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isolated canary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2362200" y="2857500"/>
              <a:ext cx="2324100" cy="762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047698" y="3024664"/>
              <a:ext cx="9531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MEASURE</a:t>
              </a:r>
              <a:endParaRPr lang="zh-CN" sz="1280" b="1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685506" y="3298031"/>
              <a:ext cx="167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progress + recurrence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Line 70"/>
            <p:cNvSpPr/>
            <p:nvPr/>
          </p:nvSpPr>
          <p:spPr>
            <a:xfrm>
              <a:off x="6076950" y="2476500"/>
              <a:ext cx="2952750" cy="762000"/>
            </a:xfrm>
            <a:custGeom>
              <a:avLst/>
              <a:gdLst/>
              <a:ahLst/>
              <a:cxnLst/>
              <a:rect l="l" t="t" r="r" b="b"/>
              <a:pathLst>
                <a:path w="2952750" h="762000">
                  <a:moveTo>
                    <a:pt x="0" y="0"/>
                  </a:moveTo>
                  <a:lnTo>
                    <a:pt x="2952750" y="7620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  <a:custDash>
                <a:ds d="266667" sp="266667"/>
              </a:custDash>
            </a:ln>
          </p:spPr>
        </p:sp>
        <p:sp>
          <p:nvSpPr>
            <p:cNvPr id="71" name="Line 71"/>
            <p:cNvSpPr/>
            <p:nvPr/>
          </p:nvSpPr>
          <p:spPr>
            <a:xfrm>
              <a:off x="8591550" y="3238500"/>
              <a:ext cx="438150" cy="2057400"/>
            </a:xfrm>
            <a:custGeom>
              <a:avLst/>
              <a:gdLst/>
              <a:ahLst/>
              <a:cxnLst/>
              <a:rect l="l" t="t" r="r" b="b"/>
              <a:pathLst>
                <a:path w="438150" h="2057400">
                  <a:moveTo>
                    <a:pt x="438150" y="0"/>
                  </a:moveTo>
                  <a:lnTo>
                    <a:pt x="0" y="20574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  <a:custDash>
                <a:ds d="266667" sp="266667"/>
              </a:custDash>
            </a:ln>
          </p:spPr>
        </p:sp>
        <p:sp>
          <p:nvSpPr>
            <p:cNvPr id="72" name="Line 72"/>
            <p:cNvSpPr/>
            <p:nvPr/>
          </p:nvSpPr>
          <p:spPr>
            <a:xfrm>
              <a:off x="4191000" y="5295900"/>
              <a:ext cx="4400550" cy="9525"/>
            </a:xfrm>
            <a:custGeom>
              <a:avLst/>
              <a:gdLst/>
              <a:ahLst/>
              <a:cxnLst/>
              <a:rect l="l" t="t" r="r" b="b"/>
              <a:pathLst>
                <a:path w="4400550" h="9525">
                  <a:moveTo>
                    <a:pt x="44005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  <a:custDash>
                <a:ds d="266667" sp="266667"/>
              </a:custDash>
            </a:ln>
          </p:spPr>
        </p:sp>
        <p:sp>
          <p:nvSpPr>
            <p:cNvPr id="73" name="Line 73"/>
            <p:cNvSpPr/>
            <p:nvPr/>
          </p:nvSpPr>
          <p:spPr>
            <a:xfrm>
              <a:off x="3524250" y="3238500"/>
              <a:ext cx="666750" cy="2057400"/>
            </a:xfrm>
            <a:custGeom>
              <a:avLst/>
              <a:gdLst/>
              <a:ahLst/>
              <a:cxnLst/>
              <a:rect l="l" t="t" r="r" b="b"/>
              <a:pathLst>
                <a:path w="666750" h="2057400">
                  <a:moveTo>
                    <a:pt x="666750" y="2057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  <a:custDash>
                <a:ds d="266667" sp="266667"/>
              </a:custDash>
            </a:ln>
          </p:spPr>
        </p:sp>
        <p:sp>
          <p:nvSpPr>
            <p:cNvPr id="74" name="Line 74"/>
            <p:cNvSpPr/>
            <p:nvPr/>
          </p:nvSpPr>
          <p:spPr>
            <a:xfrm>
              <a:off x="3524250" y="2476500"/>
              <a:ext cx="2552700" cy="762000"/>
            </a:xfrm>
            <a:custGeom>
              <a:avLst/>
              <a:gdLst/>
              <a:ahLst/>
              <a:cxnLst/>
              <a:rect l="l" t="t" r="r" b="b"/>
              <a:pathLst>
                <a:path w="2552700" h="762000">
                  <a:moveTo>
                    <a:pt x="0" y="762000"/>
                  </a:moveTo>
                  <a:lnTo>
                    <a:pt x="25527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  <a:custDash>
                <a:ds d="266667" sp="266667"/>
              </a:custDash>
            </a:ln>
          </p:spPr>
        </p:sp>
        <p:sp>
          <p:nvSpPr>
            <p:cNvPr id="75" name="Rectangle 75"/>
            <p:cNvSpPr/>
            <p:nvPr/>
          </p:nvSpPr>
          <p:spPr>
            <a:xfrm>
              <a:off x="4324350" y="5924550"/>
              <a:ext cx="297180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077206" y="60140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失败必须改变下一轮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604647" y="6400800"/>
            <a:ext cx="10982706" cy="342614"/>
            <a:chOff x="604647" y="6400800"/>
            <a:chExt cx="10982706" cy="342614"/>
          </a:xfrm>
        </p:grpSpPr>
        <p:sp>
          <p:nvSpPr>
            <p:cNvPr id="78" name="Line 78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04647" y="6552724"/>
              <a:ext cx="30031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Observe → classify → change → rerun → measure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087124" y="6552724"/>
              <a:ext cx="50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13 / 16</a:t>
              </a:r>
              <a:endParaRPr lang="zh-CN" sz="98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9"/>
          <p:cNvGrpSpPr/>
          <p:nvPr/>
        </p:nvGrpSpPr>
        <p:grpSpPr>
          <a:xfrm>
            <a:off x="10401300" y="0"/>
            <a:ext cx="1790700" cy="6858000"/>
            <a:chOff x="10401300" y="0"/>
            <a:chExt cx="1790700" cy="6858000"/>
          </a:xfrm>
        </p:grpSpPr>
        <p:sp>
          <p:nvSpPr>
            <p:cNvPr id="2" name="Rectangle 2"/>
            <p:cNvSpPr/>
            <p:nvPr/>
          </p:nvSpPr>
          <p:spPr>
            <a:xfrm>
              <a:off x="11068050" y="0"/>
              <a:ext cx="1123950" cy="6858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401300" y="419100"/>
              <a:ext cx="1562100" cy="156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415588" y="55578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570845" y="55511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726102" y="55445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901362" y="55578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056620" y="55511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211878" y="55445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387138" y="55578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542395" y="55511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1697652" y="55445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08920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56417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739438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89469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049952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22521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380470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153572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1710988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402252" y="586835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577512" y="588168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732770" y="587502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888028" y="586835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063288" y="588168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1218545" y="587502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1373802" y="586835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1549062" y="588168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704320" y="587502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415588" y="60436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570845" y="60369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726102" y="60302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0901362" y="60436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056620" y="60369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1211878" y="60302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1387138" y="60436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1542395" y="60369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697652" y="60302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408920" y="61988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0564178" y="61922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0739438" y="62055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0894695" y="61988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1049952" y="61922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1225212" y="62055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1380470" y="6198870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1535728" y="6192202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1710988" y="6205538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596646" y="428625"/>
            <a:ext cx="7860487" cy="956882"/>
            <a:chOff x="596646" y="428625"/>
            <a:chExt cx="7860487" cy="956882"/>
          </a:xfrm>
        </p:grpSpPr>
        <p:sp>
          <p:nvSpPr>
            <p:cNvPr id="50" name="Rectangle 50"/>
            <p:cNvSpPr/>
            <p:nvPr/>
          </p:nvSpPr>
          <p:spPr>
            <a:xfrm>
              <a:off x="609600" y="428625"/>
              <a:ext cx="16954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08147" y="526256"/>
              <a:ext cx="898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 · Canary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6646" y="886778"/>
              <a:ext cx="78604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一次小规模运行打通 search → ingest → verify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9600" y="1295400"/>
              <a:ext cx="74676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609600" y="1809115"/>
            <a:ext cx="10382250" cy="4043236"/>
            <a:chOff x="609600" y="1809115"/>
            <a:chExt cx="10382250" cy="4043236"/>
          </a:xfrm>
        </p:grpSpPr>
        <p:sp>
          <p:nvSpPr>
            <p:cNvPr id="55" name="Rectangle 55"/>
            <p:cNvSpPr/>
            <p:nvPr/>
          </p:nvSpPr>
          <p:spPr>
            <a:xfrm>
              <a:off x="609600" y="1809115"/>
              <a:ext cx="3429000" cy="3371850"/>
            </a:xfrm>
            <a:prstGeom prst="roundRect">
              <a:avLst>
                <a:gd name="adj" fmla="val 565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233076" y="1823085"/>
              <a:ext cx="2182048" cy="167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386</a:t>
              </a:r>
              <a:endParaRPr lang="zh-CN" sz="870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709762" y="3060382"/>
              <a:ext cx="12286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A7D8F2"/>
                  </a:solidFill>
                  <a:latin typeface="+mj-lt"/>
                  <a:ea typeface="+mj-ea"/>
                  <a:cs typeface="+mj-cs"/>
                </a:rPr>
                <a:t>SECONDS</a:t>
              </a:r>
              <a:endParaRPr lang="zh-CN" sz="1650" b="1" dirty="0">
                <a:solidFill>
                  <a:srgbClr val="A7D8F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406124" y="3680936"/>
              <a:ext cx="183595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真实联网 Canary</a:t>
              </a:r>
              <a:endParaRPr lang="zh-CN" sz="17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219200" y="4495800"/>
              <a:ext cx="2209800" cy="323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503162" y="4609624"/>
              <a:ext cx="16418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FORMAL WIKI UNCHANGED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591050" y="2362200"/>
              <a:ext cx="1428750" cy="1066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964564" y="2593181"/>
              <a:ext cx="6817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SEARCH</a:t>
              </a:r>
              <a:endParaRPr lang="zh-CN" sz="112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838304" y="2939415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query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Line 64"/>
            <p:cNvSpPr/>
            <p:nvPr/>
          </p:nvSpPr>
          <p:spPr>
            <a:xfrm>
              <a:off x="6019800" y="28956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48400" y="2362200"/>
              <a:ext cx="1428750" cy="1066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21914" y="2593181"/>
              <a:ext cx="6817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SCREEN</a:t>
              </a:r>
              <a:endParaRPr lang="zh-CN" sz="1120" b="1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67395" y="2939415"/>
              <a:ext cx="5907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 → 3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Line 68"/>
            <p:cNvSpPr/>
            <p:nvPr/>
          </p:nvSpPr>
          <p:spPr>
            <a:xfrm>
              <a:off x="7677150" y="28956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905750" y="2362200"/>
              <a:ext cx="1428750" cy="1066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304654" y="2593181"/>
              <a:ext cx="630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INGEST</a:t>
              </a:r>
              <a:endParaRPr lang="zh-CN" sz="112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153004" y="2939415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paper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Line 72"/>
            <p:cNvSpPr/>
            <p:nvPr/>
          </p:nvSpPr>
          <p:spPr>
            <a:xfrm>
              <a:off x="9334500" y="28956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9563100" y="2362200"/>
              <a:ext cx="1428750" cy="1066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962004" y="2593181"/>
              <a:ext cx="630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VERIFY</a:t>
              </a:r>
              <a:endParaRPr lang="zh-CN" sz="1120" b="1" dirty="0">
                <a:solidFill>
                  <a:schemeClr val="accent3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842158" y="2939415"/>
              <a:ext cx="8706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 / 40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4591050" y="3905250"/>
              <a:ext cx="1981200" cy="1295400"/>
            </a:xfrm>
            <a:prstGeom prst="roundRect">
              <a:avLst>
                <a:gd name="adj" fmla="val 102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306896" y="4079558"/>
              <a:ext cx="5495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40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244793" y="4709160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entities</a:t>
              </a:r>
              <a:endParaRPr lang="zh-CN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781800" y="3905250"/>
              <a:ext cx="1981200" cy="1295400"/>
            </a:xfrm>
            <a:prstGeom prst="roundRect">
              <a:avLst>
                <a:gd name="adj" fmla="val 102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627022" y="4079558"/>
              <a:ext cx="2907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185351" y="4709160"/>
              <a:ext cx="1174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schema repair</a:t>
              </a:r>
              <a:endParaRPr lang="zh-CN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972550" y="3905250"/>
              <a:ext cx="1981200" cy="1295400"/>
            </a:xfrm>
            <a:prstGeom prst="roundRect">
              <a:avLst>
                <a:gd name="adj" fmla="val 102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817772" y="4079558"/>
              <a:ext cx="2907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511798" y="4709160"/>
              <a:ext cx="902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unresolved</a:t>
              </a:r>
              <a:endParaRPr lang="zh-CN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618416" y="558831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小规模纵切面足以暴露结构化输出、隔离与验证问题</a:t>
              </a:r>
              <a:endPara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604647" y="6400800"/>
            <a:ext cx="10982706" cy="342614"/>
            <a:chOff x="604647" y="6400800"/>
            <a:chExt cx="10982706" cy="342614"/>
          </a:xfrm>
        </p:grpSpPr>
        <p:sp>
          <p:nvSpPr>
            <p:cNvPr id="87" name="Line 87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04647" y="6552724"/>
              <a:ext cx="20877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reverification-20260830-235346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087124" y="6552724"/>
              <a:ext cx="50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14 / 16</a:t>
              </a:r>
              <a:endParaRPr lang="zh-CN" sz="98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4"/>
          <p:cNvGrpSpPr/>
          <p:nvPr/>
        </p:nvGrpSpPr>
        <p:grpSpPr>
          <a:xfrm>
            <a:off x="10259378" y="-190500"/>
            <a:ext cx="2161222" cy="6637973"/>
            <a:chOff x="10259378" y="-190500"/>
            <a:chExt cx="2161222" cy="6637973"/>
          </a:xfrm>
        </p:grpSpPr>
        <p:sp>
          <p:nvSpPr>
            <p:cNvPr id="2" name="Ellipse 2"/>
            <p:cNvSpPr/>
            <p:nvPr/>
          </p:nvSpPr>
          <p:spPr>
            <a:xfrm>
              <a:off x="10287000" y="-190500"/>
              <a:ext cx="2133600" cy="2133600"/>
            </a:xfrm>
            <a:prstGeom prst="ellipse">
              <a:avLst/>
            </a:prstGeom>
            <a:solidFill>
              <a:schemeClr val="accent2">
                <a:alpha val="92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801350" y="323850"/>
              <a:ext cx="1104900" cy="110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27271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43749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0227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78706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95184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116628" y="57064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301412" y="57197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466195" y="57130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266045" y="58845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30828" y="58778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615612" y="58912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780395" y="58845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945178" y="58778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129962" y="58912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294745" y="58845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459528" y="58778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259378" y="60493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444162" y="60626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08945" y="60559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773728" y="60493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958512" y="60626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123295" y="60559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288078" y="60493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1472862" y="60626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272712" y="62341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437495" y="62274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0602278" y="62207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787062" y="62341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951845" y="62274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1116628" y="622077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1301412" y="623411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466195" y="622744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266045" y="63988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430828" y="63922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615612" y="64055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780395" y="63988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945178" y="63922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1129962" y="6405562"/>
              <a:ext cx="28575" cy="2857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1294745" y="6398895"/>
              <a:ext cx="41910" cy="4191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459528" y="6392228"/>
              <a:ext cx="55245" cy="55245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594360" y="428625"/>
            <a:ext cx="7711440" cy="996315"/>
            <a:chOff x="594360" y="428625"/>
            <a:chExt cx="7711440" cy="996315"/>
          </a:xfrm>
        </p:grpSpPr>
        <p:sp>
          <p:nvSpPr>
            <p:cNvPr id="45" name="Rectangle 45"/>
            <p:cNvSpPr/>
            <p:nvPr/>
          </p:nvSpPr>
          <p:spPr>
            <a:xfrm>
              <a:off x="609600" y="428625"/>
              <a:ext cx="16954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50468" y="526256"/>
              <a:ext cx="121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 · Error Book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4360" y="838200"/>
              <a:ext cx="77114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已能记录问题，但尚未形成自动优化闭环</a:t>
              </a:r>
              <a:endParaRPr lang="zh-CN" sz="30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9600" y="1295400"/>
              <a:ext cx="74676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91" name="Group 91"/>
          <p:cNvGrpSpPr/>
          <p:nvPr/>
        </p:nvGrpSpPr>
        <p:grpSpPr>
          <a:xfrm>
            <a:off x="609600" y="2095500"/>
            <a:ext cx="9925050" cy="4019550"/>
            <a:chOff x="609600" y="2095500"/>
            <a:chExt cx="9925050" cy="4019550"/>
          </a:xfrm>
        </p:grpSpPr>
        <p:sp>
          <p:nvSpPr>
            <p:cNvPr id="50" name="Rectangle 50"/>
            <p:cNvSpPr/>
            <p:nvPr/>
          </p:nvSpPr>
          <p:spPr>
            <a:xfrm>
              <a:off x="609600" y="2095500"/>
              <a:ext cx="5391150" cy="781050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81050" y="2257425"/>
              <a:ext cx="125730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69708" y="2379345"/>
              <a:ext cx="4799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SCHEMA</a:t>
              </a:r>
              <a:endParaRPr lang="zh-CN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202561" y="2265521"/>
              <a:ext cx="15609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claim scope 为空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204085" y="2555081"/>
              <a:ext cx="968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repair 后通过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9600" y="3009900"/>
              <a:ext cx="5391150" cy="781050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81050" y="3171825"/>
              <a:ext cx="125730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95779" y="3293745"/>
              <a:ext cx="6278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COVERAGE</a:t>
              </a:r>
              <a:endParaRPr lang="zh-CN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202561" y="3179921"/>
              <a:ext cx="2734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facet tag ≠ metric evidence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204085" y="34694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仍需规则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9600" y="3924300"/>
              <a:ext cx="5391150" cy="781050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4288">
              <a:solidFill>
                <a:schemeClr val="accent2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81050" y="4086225"/>
              <a:ext cx="125730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15129" y="4208145"/>
              <a:ext cx="7891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GRANULARITY</a:t>
              </a:r>
              <a:endParaRPr lang="zh-CN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202561" y="4094321"/>
              <a:ext cx="16608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表 → 24 records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204085" y="43838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计数膨胀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09600" y="4838700"/>
              <a:ext cx="5391150" cy="781050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4288">
              <a:solidFill>
                <a:schemeClr val="accent2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81050" y="5000625"/>
              <a:ext cx="125730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236916" y="5122545"/>
              <a:ext cx="3455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ALIAS</a:t>
              </a:r>
              <a:endParaRPr lang="zh-CN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202561" y="5008721"/>
              <a:ext cx="2573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method / concept collision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204085" y="5298281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待 canonicalize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Ellipse 70"/>
            <p:cNvSpPr/>
            <p:nvPr/>
          </p:nvSpPr>
          <p:spPr>
            <a:xfrm>
              <a:off x="6896100" y="21145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050268" y="22612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  <a:endParaRPr lang="zh-CN" sz="120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17130" y="2228850"/>
              <a:ext cx="948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recorded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Line 73"/>
            <p:cNvSpPr/>
            <p:nvPr/>
          </p:nvSpPr>
          <p:spPr>
            <a:xfrm>
              <a:off x="7105650" y="25336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6896100" y="2800350"/>
              <a:ext cx="419100" cy="419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050268" y="29470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</a:t>
              </a:r>
              <a:endParaRPr lang="zh-CN" sz="12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517130" y="2914650"/>
              <a:ext cx="10647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aggregate</a:t>
              </a:r>
              <a:endPara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Line 77"/>
            <p:cNvSpPr/>
            <p:nvPr/>
          </p:nvSpPr>
          <p:spPr>
            <a:xfrm>
              <a:off x="7105650" y="32194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6896100" y="3486150"/>
              <a:ext cx="419100" cy="419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050268" y="36328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</a:t>
              </a:r>
              <a:endParaRPr lang="zh-CN" sz="12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517130" y="3600450"/>
              <a:ext cx="1944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detect recurrence</a:t>
              </a:r>
              <a:endPara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1" name="Line 81"/>
            <p:cNvSpPr/>
            <p:nvPr/>
          </p:nvSpPr>
          <p:spPr>
            <a:xfrm>
              <a:off x="7105650" y="39052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6896100" y="4171950"/>
              <a:ext cx="419100" cy="419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050268" y="43186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</a:t>
              </a:r>
              <a:endParaRPr lang="zh-CN" sz="12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517130" y="4286250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propose rule</a:t>
              </a:r>
              <a:endPara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Line 85"/>
            <p:cNvSpPr/>
            <p:nvPr/>
          </p:nvSpPr>
          <p:spPr>
            <a:xfrm>
              <a:off x="7105650" y="45910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86" name="Ellipse 86"/>
            <p:cNvSpPr/>
            <p:nvPr/>
          </p:nvSpPr>
          <p:spPr>
            <a:xfrm>
              <a:off x="6896100" y="4857750"/>
              <a:ext cx="419100" cy="419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050268" y="50044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</a:t>
              </a:r>
              <a:endParaRPr lang="zh-CN" sz="12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517130" y="4972050"/>
              <a:ext cx="1208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update Skill</a:t>
              </a:r>
              <a:endPara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496050" y="5505450"/>
              <a:ext cx="4038600" cy="609600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054596" y="57407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当前：可审计日志，不是自动修复器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04647" y="6400800"/>
            <a:ext cx="10982706" cy="342614"/>
            <a:chOff x="604647" y="6400800"/>
            <a:chExt cx="10982706" cy="342614"/>
          </a:xfrm>
        </p:grpSpPr>
        <p:sp>
          <p:nvSpPr>
            <p:cNvPr id="92" name="Line 92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04647" y="6552724"/>
              <a:ext cx="27773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README + errors.jsonl + 3 recurrence keys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087124" y="6552724"/>
              <a:ext cx="50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15 / 16</a:t>
              </a:r>
              <a:endParaRPr lang="zh-CN" sz="98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4"/>
          <p:cNvGrpSpPr/>
          <p:nvPr/>
        </p:nvGrpSpPr>
        <p:grpSpPr>
          <a:xfrm>
            <a:off x="10325100" y="639128"/>
            <a:ext cx="2324100" cy="6276022"/>
            <a:chOff x="10325100" y="639128"/>
            <a:chExt cx="2324100" cy="6276022"/>
          </a:xfrm>
        </p:grpSpPr>
        <p:sp>
          <p:nvSpPr>
            <p:cNvPr id="2" name="Ellipse 2"/>
            <p:cNvSpPr/>
            <p:nvPr/>
          </p:nvSpPr>
          <p:spPr>
            <a:xfrm>
              <a:off x="10325100" y="4591050"/>
              <a:ext cx="2324100" cy="2324100"/>
            </a:xfrm>
            <a:prstGeom prst="ellipse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801350" y="5067300"/>
              <a:ext cx="1371600" cy="1371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463212" y="6524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627995" y="6457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792778" y="6391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977562" y="6524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142345" y="6457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307128" y="6391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491912" y="6524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656695" y="6457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456545" y="8172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621328" y="8105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806112" y="8239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970895" y="8172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1135678" y="8105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320462" y="8239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485245" y="8172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650028" y="8105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449878" y="9820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634662" y="9953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799445" y="9886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964228" y="9820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1149012" y="9953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313795" y="9886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478578" y="9820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1663362" y="9953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463212" y="11668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627995" y="11601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0792778" y="11534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977562" y="11668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1142345" y="11601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1307128" y="115347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1491912" y="116681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656695" y="116014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456545" y="13315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621328" y="13249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806112" y="13382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970895" y="13315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1135678" y="13249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1320462" y="1338262"/>
              <a:ext cx="28575" cy="2857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1485245" y="1331595"/>
              <a:ext cx="41910" cy="41910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650028" y="1324928"/>
              <a:ext cx="55245" cy="55245"/>
            </a:xfrm>
            <a:prstGeom prst="ellipse">
              <a:avLst/>
            </a:prstGeom>
            <a:solidFill>
              <a:schemeClr val="accent2">
                <a:alpha val="13000"/>
              </a:schemeClr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596646" y="428625"/>
            <a:ext cx="7480554" cy="1375982"/>
            <a:chOff x="596646" y="428625"/>
            <a:chExt cx="7480554" cy="1375982"/>
          </a:xfrm>
        </p:grpSpPr>
        <p:sp>
          <p:nvSpPr>
            <p:cNvPr id="45" name="Rectangle 45"/>
            <p:cNvSpPr/>
            <p:nvPr/>
          </p:nvSpPr>
          <p:spPr>
            <a:xfrm>
              <a:off x="609600" y="428625"/>
              <a:ext cx="16954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47346" y="526256"/>
              <a:ext cx="819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 · 下一轮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6646" y="886778"/>
              <a:ext cx="33655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先补 4 类研究证据，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6646" y="1305878"/>
              <a:ext cx="53998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再闭环 Error Book 与自动总结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9600" y="1714500"/>
              <a:ext cx="74676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85" name="Group 85"/>
          <p:cNvGrpSpPr/>
          <p:nvPr/>
        </p:nvGrpSpPr>
        <p:grpSpPr>
          <a:xfrm>
            <a:off x="609600" y="2076450"/>
            <a:ext cx="10153650" cy="4210050"/>
            <a:chOff x="609600" y="2076450"/>
            <a:chExt cx="10153650" cy="4210050"/>
          </a:xfrm>
        </p:grpSpPr>
        <p:sp>
          <p:nvSpPr>
            <p:cNvPr id="51" name="Rectangle 51"/>
            <p:cNvSpPr/>
            <p:nvPr/>
          </p:nvSpPr>
          <p:spPr>
            <a:xfrm>
              <a:off x="609600" y="2076450"/>
              <a:ext cx="22669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18359" y="2182178"/>
              <a:ext cx="16494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RESEARCH · 4 SAMPLES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9600" y="2590800"/>
              <a:ext cx="2381250" cy="1181100"/>
            </a:xfrm>
            <a:prstGeom prst="roundRect">
              <a:avLst>
                <a:gd name="adj" fmla="val 11290"/>
              </a:avLst>
            </a:prstGeom>
            <a:solidFill>
              <a:srgbClr val="FFFFFF"/>
            </a:solidFill>
            <a:ln w="14288">
              <a:solidFill>
                <a:schemeClr val="accent1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81050" y="2743200"/>
              <a:ext cx="6667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74084" y="2857024"/>
              <a:ext cx="280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Q03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3811" y="3122771"/>
              <a:ext cx="14596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dynamic prefill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5335" y="3440906"/>
              <a:ext cx="1080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TTFT / latency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181350" y="2590800"/>
              <a:ext cx="2381250" cy="1181100"/>
            </a:xfrm>
            <a:prstGeom prst="roundRect">
              <a:avLst>
                <a:gd name="adj" fmla="val 11290"/>
              </a:avLst>
            </a:prstGeom>
            <a:solidFill>
              <a:srgbClr val="FFFFFF"/>
            </a:solidFill>
            <a:ln w="14288">
              <a:solidFill>
                <a:schemeClr val="accent1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3352800" y="2743200"/>
              <a:ext cx="6667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545834" y="2857024"/>
              <a:ext cx="280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Q04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345561" y="3122771"/>
              <a:ext cx="10343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KV / token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347085" y="344090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decode memory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753100" y="2590800"/>
              <a:ext cx="2381250" cy="1181100"/>
            </a:xfrm>
            <a:prstGeom prst="roundRect">
              <a:avLst>
                <a:gd name="adj" fmla="val 11290"/>
              </a:avLst>
            </a:prstGeom>
            <a:solidFill>
              <a:srgbClr val="FFFFFF"/>
            </a:solidFill>
            <a:ln w="14288">
              <a:solidFill>
                <a:schemeClr val="accent1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924550" y="2743200"/>
              <a:ext cx="6667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117584" y="2857024"/>
              <a:ext cx="280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Q06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917311" y="3122771"/>
              <a:ext cx="13291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kernel-aware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918835" y="344090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same hardware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324850" y="2590800"/>
              <a:ext cx="2381250" cy="1181100"/>
            </a:xfrm>
            <a:prstGeom prst="roundRect">
              <a:avLst>
                <a:gd name="adj" fmla="val 11290"/>
              </a:avLst>
            </a:prstGeom>
            <a:solidFill>
              <a:srgbClr val="FFFFFF"/>
            </a:solidFill>
            <a:ln w="14288">
              <a:solidFill>
                <a:schemeClr val="accent1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496300" y="2743200"/>
              <a:ext cx="6667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689334" y="2857024"/>
              <a:ext cx="280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Q07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489061" y="3122771"/>
              <a:ext cx="17306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counter-evidence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90585" y="3440906"/>
              <a:ext cx="1142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strong baseline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09600" y="4095750"/>
              <a:ext cx="22669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98756" y="4201478"/>
              <a:ext cx="16886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ENGINEERING · 2 LOOPS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09600" y="4610100"/>
              <a:ext cx="4953000" cy="1009650"/>
            </a:xfrm>
            <a:prstGeom prst="roundRect">
              <a:avLst>
                <a:gd name="adj" fmla="val 1320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29818" y="4822508"/>
              <a:ext cx="26093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Error Book aggregator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32104" y="5185410"/>
              <a:ext cx="4107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recurrence · severity · rule proposal · test binding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810250" y="4610100"/>
              <a:ext cx="4953000" cy="1009650"/>
            </a:xfrm>
            <a:prstGeom prst="roundRect">
              <a:avLst>
                <a:gd name="adj" fmla="val 1320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030468" y="4822508"/>
              <a:ext cx="33127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Evidence-grounded synthesis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032754" y="5185410"/>
              <a:ext cx="35823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formal report · technical map · presentation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1" name="Line 81"/>
            <p:cNvSpPr/>
            <p:nvPr/>
          </p:nvSpPr>
          <p:spPr>
            <a:xfrm>
              <a:off x="3143250" y="5791200"/>
              <a:ext cx="2571750" cy="342900"/>
            </a:xfrm>
            <a:custGeom>
              <a:avLst/>
              <a:gdLst/>
              <a:ahLst/>
              <a:cxnLst/>
              <a:rect l="l" t="t" r="r" b="b"/>
              <a:pathLst>
                <a:path w="2571750" h="342900">
                  <a:moveTo>
                    <a:pt x="0" y="0"/>
                  </a:moveTo>
                  <a:lnTo>
                    <a:pt x="2571750" y="3429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2" name="Line 82"/>
            <p:cNvSpPr/>
            <p:nvPr/>
          </p:nvSpPr>
          <p:spPr>
            <a:xfrm>
              <a:off x="5715000" y="5791200"/>
              <a:ext cx="2571750" cy="342900"/>
            </a:xfrm>
            <a:custGeom>
              <a:avLst/>
              <a:gdLst/>
              <a:ahLst/>
              <a:cxnLst/>
              <a:rect l="l" t="t" r="r" b="b"/>
              <a:pathLst>
                <a:path w="2571750" h="342900">
                  <a:moveTo>
                    <a:pt x="2571750" y="0"/>
                  </a:moveTo>
                  <a:lnTo>
                    <a:pt x="0" y="3429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4362450" y="5962650"/>
              <a:ext cx="2705100" cy="323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4709941" y="6068378"/>
              <a:ext cx="20101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CROSS-FAMILY ASSESSMENT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604647" y="6400800"/>
            <a:ext cx="10982706" cy="342614"/>
            <a:chOff x="604647" y="6400800"/>
            <a:chExt cx="10982706" cy="342614"/>
          </a:xfrm>
        </p:grpSpPr>
        <p:sp>
          <p:nvSpPr>
            <p:cNvPr id="86" name="Line 86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04647" y="6552724"/>
              <a:ext cx="27312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下一轮 Gate：配置与 measurement 分开计数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087124" y="6552724"/>
              <a:ext cx="50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16 / 16</a:t>
              </a:r>
              <a:endParaRPr lang="zh-CN" sz="980" b="1" dirty="0">
                <a:solidFill>
                  <a:schemeClr val="accent5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arse-long-context-harness-pilot">
  <a:themeElements>
    <a:clrScheme name="sparse-long-context-harness-pilot">
      <a:dk1>
        <a:srgbClr val="17212B"/>
      </a:dk1>
      <a:lt1>
        <a:srgbClr val="F8FAFC"/>
      </a:lt1>
      <a:dk2>
        <a:srgbClr val="1F497D"/>
      </a:dk2>
      <a:lt2>
        <a:srgbClr val="EAF0F6"/>
      </a:lt2>
      <a:accent1>
        <a:srgbClr val="123B5D"/>
      </a:accent1>
      <a:accent2>
        <a:srgbClr val="E76F2E"/>
      </a:accent2>
      <a:accent3>
        <a:srgbClr val="2A9D8F"/>
      </a:accent3>
      <a:accent4>
        <a:srgbClr val="123B5D"/>
      </a:accent4>
      <a:accent5>
        <a:srgbClr val="52616F"/>
      </a:accent5>
      <a:accent6>
        <a:srgbClr val="B9C8D4"/>
      </a:accent6>
      <a:hlink>
        <a:srgbClr val="E76F2E"/>
      </a:hlink>
      <a:folHlink>
        <a:srgbClr val="2A9D8F"/>
      </a:folHlink>
    </a:clrScheme>
    <a:fontScheme name="sparse-long-context-harness-pilot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Microsoft YaHei"/>
        <a:cs typeface="Apto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parse-long-context-harness-pilo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parse-long-context-harness-pilot">
  <a:themeElements>
    <a:clrScheme name="sparse-long-context-harness-pilot">
      <a:dk1>
        <a:srgbClr val="17212B"/>
      </a:dk1>
      <a:lt1>
        <a:srgbClr val="F8FAFC"/>
      </a:lt1>
      <a:dk2>
        <a:srgbClr val="1F497D"/>
      </a:dk2>
      <a:lt2>
        <a:srgbClr val="EAF0F6"/>
      </a:lt2>
      <a:accent1>
        <a:srgbClr val="123B5D"/>
      </a:accent1>
      <a:accent2>
        <a:srgbClr val="E76F2E"/>
      </a:accent2>
      <a:accent3>
        <a:srgbClr val="2A9D8F"/>
      </a:accent3>
      <a:accent4>
        <a:srgbClr val="123B5D"/>
      </a:accent4>
      <a:accent5>
        <a:srgbClr val="52616F"/>
      </a:accent5>
      <a:accent6>
        <a:srgbClr val="B9C8D4"/>
      </a:accent6>
      <a:hlink>
        <a:srgbClr val="E76F2E"/>
      </a:hlink>
      <a:folHlink>
        <a:srgbClr val="2A9D8F"/>
      </a:folHlink>
    </a:clrScheme>
    <a:fontScheme name="sparse-long-context-harness-pilot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Microsoft YaHei"/>
        <a:cs typeface="Apto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parse-long-context-harness-pilo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3822</Words>
  <Application>WPS 演示</Application>
  <PresentationFormat>On-screen Show (16:9)</PresentationFormat>
  <Paragraphs>632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Arial</vt:lpstr>
      <vt:lpstr>Georgia</vt:lpstr>
      <vt:lpstr>微软雅黑</vt:lpstr>
      <vt:lpstr>Aptos</vt:lpstr>
      <vt:lpstr>Segoe UI</vt:lpstr>
      <vt:lpstr>Arial Unicode MS</vt:lpstr>
      <vt:lpstr>Calibri</vt:lpstr>
      <vt:lpstr>sparse-long-context-harness-pilot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程宇航</cp:lastModifiedBy>
  <cp:revision>6</cp:revision>
  <dcterms:created xsi:type="dcterms:W3CDTF">2026-08-30T18:30:00Z</dcterms:created>
  <dcterms:modified xsi:type="dcterms:W3CDTF">2026-08-30T18:39:57Z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A6018625A5BB434C8E6B90E70BDA5923_12</vt:lpwstr>
  </property>
  <property fmtid="{D5CDD505-2E9C-101B-9397-08002B2CF9AE}" pid="3" name="KSOProductBuildVer">
    <vt:lpwstr>2052-12.1.0.28043</vt:lpwstr>
  </property>
</Properties>
</file>